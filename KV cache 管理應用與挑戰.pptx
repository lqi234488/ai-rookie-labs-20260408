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256" r:id="rId2"/>
    <p:sldId id="259" r:id="rId3"/>
    <p:sldId id="260" r:id="rId4"/>
    <p:sldId id="395" r:id="rId5"/>
    <p:sldId id="400" r:id="rId6"/>
    <p:sldId id="398" r:id="rId7"/>
    <p:sldId id="399" r:id="rId8"/>
    <p:sldId id="396" r:id="rId9"/>
    <p:sldId id="397" r:id="rId10"/>
    <p:sldId id="403" r:id="rId11"/>
    <p:sldId id="401" r:id="rId12"/>
    <p:sldId id="409" r:id="rId13"/>
    <p:sldId id="404" r:id="rId14"/>
    <p:sldId id="445" r:id="rId15"/>
    <p:sldId id="405" r:id="rId16"/>
    <p:sldId id="406" r:id="rId17"/>
    <p:sldId id="407" r:id="rId18"/>
    <p:sldId id="408" r:id="rId19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7" r:id="rId27"/>
    <p:sldId id="402" r:id="rId28"/>
    <p:sldId id="418" r:id="rId29"/>
    <p:sldId id="419" r:id="rId30"/>
    <p:sldId id="422" r:id="rId31"/>
    <p:sldId id="420" r:id="rId32"/>
    <p:sldId id="423" r:id="rId33"/>
    <p:sldId id="421" r:id="rId34"/>
    <p:sldId id="424" r:id="rId35"/>
    <p:sldId id="425" r:id="rId36"/>
    <p:sldId id="426" r:id="rId37"/>
    <p:sldId id="428" r:id="rId38"/>
    <p:sldId id="429" r:id="rId39"/>
    <p:sldId id="430" r:id="rId40"/>
    <p:sldId id="431" r:id="rId41"/>
    <p:sldId id="432" r:id="rId42"/>
    <p:sldId id="433" r:id="rId43"/>
    <p:sldId id="434" r:id="rId44"/>
    <p:sldId id="435" r:id="rId45"/>
    <p:sldId id="436" r:id="rId46"/>
    <p:sldId id="437" r:id="rId47"/>
    <p:sldId id="438" r:id="rId48"/>
    <p:sldId id="439" r:id="rId49"/>
    <p:sldId id="440" r:id="rId50"/>
    <p:sldId id="454" r:id="rId51"/>
    <p:sldId id="455" r:id="rId52"/>
    <p:sldId id="441" r:id="rId53"/>
    <p:sldId id="447" r:id="rId54"/>
    <p:sldId id="449" r:id="rId55"/>
    <p:sldId id="448" r:id="rId56"/>
    <p:sldId id="450" r:id="rId57"/>
    <p:sldId id="451" r:id="rId58"/>
    <p:sldId id="452" r:id="rId59"/>
    <p:sldId id="453" r:id="rId60"/>
    <p:sldId id="456" r:id="rId61"/>
    <p:sldId id="457" r:id="rId62"/>
    <p:sldId id="442" r:id="rId63"/>
    <p:sldId id="443" r:id="rId64"/>
    <p:sldId id="446" r:id="rId65"/>
    <p:sldId id="444" r:id="rId66"/>
    <p:sldId id="394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1118" userDrawn="1">
          <p15:clr>
            <a:srgbClr val="A4A3A4"/>
          </p15:clr>
        </p15:guide>
        <p15:guide id="4" pos="1799" userDrawn="1">
          <p15:clr>
            <a:srgbClr val="A4A3A4"/>
          </p15:clr>
        </p15:guide>
        <p15:guide id="5" pos="2479" userDrawn="1">
          <p15:clr>
            <a:srgbClr val="A4A3A4"/>
          </p15:clr>
        </p15:guide>
        <p15:guide id="6" pos="6562" userDrawn="1">
          <p15:clr>
            <a:srgbClr val="A4A3A4"/>
          </p15:clr>
        </p15:guide>
        <p15:guide id="7" pos="4566" userDrawn="1">
          <p15:clr>
            <a:srgbClr val="A4A3A4"/>
          </p15:clr>
        </p15:guide>
        <p15:guide id="8" pos="5201" userDrawn="1">
          <p15:clr>
            <a:srgbClr val="A4A3A4"/>
          </p15:clr>
        </p15:guide>
        <p15:guide id="9" pos="5881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1" pos="3160" userDrawn="1">
          <p15:clr>
            <a:srgbClr val="A4A3A4"/>
          </p15:clr>
        </p15:guide>
        <p15:guide id="12" pos="7242" userDrawn="1">
          <p15:clr>
            <a:srgbClr val="A4A3A4"/>
          </p15:clr>
        </p15:guide>
        <p15:guide id="13" orient="horz" pos="1593" userDrawn="1">
          <p15:clr>
            <a:srgbClr val="A4A3A4"/>
          </p15:clr>
        </p15:guide>
        <p15:guide id="14" orient="horz" pos="1026" userDrawn="1">
          <p15:clr>
            <a:srgbClr val="A4A3A4"/>
          </p15:clr>
        </p15:guide>
        <p15:guide id="15" orient="horz" pos="2727" userDrawn="1">
          <p15:clr>
            <a:srgbClr val="A4A3A4"/>
          </p15:clr>
        </p15:guide>
        <p15:guide id="16" orient="horz" pos="3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AA3"/>
    <a:srgbClr val="0B0E31"/>
    <a:srgbClr val="0D2149"/>
    <a:srgbClr val="F6921E"/>
    <a:srgbClr val="DBE9FB"/>
    <a:srgbClr val="22262F"/>
    <a:srgbClr val="0A0E31"/>
    <a:srgbClr val="091022"/>
    <a:srgbClr val="969696"/>
    <a:srgbClr val="EAF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1DCC8B-DC11-485F-BEB9-2E0D5B3EAC63}" v="1" dt="2022-01-18T02:48:21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21" autoAdjust="0"/>
    <p:restoredTop sz="95226" autoAdjust="0"/>
  </p:normalViewPr>
  <p:slideViewPr>
    <p:cSldViewPr snapToGrid="0">
      <p:cViewPr varScale="1">
        <p:scale>
          <a:sx n="113" d="100"/>
          <a:sy n="113" d="100"/>
        </p:scale>
        <p:origin x="876" y="102"/>
      </p:cViewPr>
      <p:guideLst>
        <p:guide pos="438"/>
        <p:guide orient="horz" pos="2160"/>
        <p:guide pos="1118"/>
        <p:guide pos="1799"/>
        <p:guide pos="2479"/>
        <p:guide pos="6562"/>
        <p:guide pos="4566"/>
        <p:guide pos="5201"/>
        <p:guide pos="5881"/>
        <p:guide pos="3840"/>
        <p:guide pos="3160"/>
        <p:guide pos="7242"/>
        <p:guide orient="horz" pos="1593"/>
        <p:guide orient="horz" pos="1026"/>
        <p:guide orient="horz" pos="2727"/>
        <p:guide orient="horz" pos="3294"/>
      </p:guideLst>
    </p:cSldViewPr>
  </p:slideViewPr>
  <p:outlineViewPr>
    <p:cViewPr>
      <p:scale>
        <a:sx n="33" d="100"/>
        <a:sy n="33" d="100"/>
      </p:scale>
      <p:origin x="0" y="-117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2" d="100"/>
        <a:sy n="72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4F0FDC-6FE3-4F5A-B882-4D3ACC6995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4F6714-0D60-4CA8-8F7F-C66282677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9EBCD-4018-4E5F-9C25-1082329EF110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3D320-3253-4882-964A-E0E18701E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19C99-8499-4657-93B6-D4CE3C7C4F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257B5-447F-4A08-9003-47B051C6D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935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EF2A5-9FEF-4467-839F-8D70CC09657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E1860-A1F5-4BC0-B2ED-04A51922B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3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4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1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45DB35F-EC9D-4B06-8F7D-D7A069ABB6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ACB81-FEF4-4056-BF04-9FBB08F20F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613" y="3355943"/>
            <a:ext cx="5923175" cy="1335748"/>
          </a:xfrm>
        </p:spPr>
        <p:txBody>
          <a:bodyPr anchor="ctr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A22E5-9874-4236-8F6B-98DD7F4D1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613" y="2911288"/>
            <a:ext cx="5329286" cy="434105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Enterprise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847B71D-0C39-416E-A8B9-1522356B65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570" y="602798"/>
            <a:ext cx="1776535" cy="3501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7060074-A0B2-4057-9676-B8C56409F1A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AC7C895-E38A-43D0-A089-E4FBF022C8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3613" y="4799367"/>
            <a:ext cx="5923175" cy="504396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CM #3035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9E4C91-B31E-4D45-A9B8-9B017711705C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zh-TW" altLang="en-US" dirty="0"/>
          </a:p>
        </p:txBody>
      </p:sp>
      <p:cxnSp>
        <p:nvCxnSpPr>
          <p:cNvPr id="16" name="Straight Connector 12">
            <a:extLst>
              <a:ext uri="{FF2B5EF4-FFF2-40B4-BE49-F238E27FC236}">
                <a16:creationId xmlns:a16="http://schemas.microsoft.com/office/drawing/2014/main" id="{1944186C-BF1C-4FD7-ABA3-058A8AE1C524}"/>
              </a:ext>
            </a:extLst>
          </p:cNvPr>
          <p:cNvCxnSpPr/>
          <p:nvPr userDrawn="1"/>
        </p:nvCxnSpPr>
        <p:spPr>
          <a:xfrm>
            <a:off x="543613" y="4691691"/>
            <a:ext cx="2339788" cy="0"/>
          </a:xfrm>
          <a:prstGeom prst="line">
            <a:avLst/>
          </a:prstGeom>
          <a:ln w="19050">
            <a:solidFill>
              <a:srgbClr val="F692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98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9773E4A-71AE-4B43-980B-FE51C347A6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7" name="Picture 6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15210F54-FCF3-4570-81CD-7A6B1A3B8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0D8E53-B67F-4BD0-AEBC-66C0494E1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059" y="4357967"/>
            <a:ext cx="10870741" cy="1863724"/>
          </a:xfrm>
        </p:spPr>
        <p:txBody>
          <a:bodyPr anchor="ctr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 test message</a:t>
            </a:r>
            <a:br>
              <a:rPr lang="en-US" dirty="0"/>
            </a:br>
            <a:r>
              <a:rPr lang="en-US" dirty="0"/>
              <a:t>to see if things work.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50BC3B1-510C-4B7C-A6B6-213AD8F4AC9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CEFEBB-5E2B-4EFD-AAC5-35BCAF10F2D4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576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833FB32-63E9-478A-AD64-2CF1D772A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8" name="Picture 7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86C43968-222E-46A5-9DF1-94B81D1B9F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05077-9E4F-4115-95A1-4A6BE7EBDD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368" y="820131"/>
            <a:ext cx="10653076" cy="813995"/>
          </a:xfrm>
        </p:spPr>
        <p:txBody>
          <a:bodyPr>
            <a:normAutofit/>
          </a:bodyPr>
          <a:lstStyle>
            <a:lvl1pPr>
              <a:defRPr sz="295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D90F964-A45B-491F-870F-300054802B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8A296A-E57E-4750-8166-A9730A461D10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4ECF5-569A-4003-9807-AF6DC83DF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7367" y="1961268"/>
            <a:ext cx="10653077" cy="3609973"/>
          </a:xfrm>
        </p:spPr>
        <p:txBody>
          <a:bodyPr>
            <a:normAutofit/>
          </a:bodyPr>
          <a:lstStyle>
            <a:lvl1pPr marL="360000" indent="-288000" algn="l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sz="2600">
                <a:solidFill>
                  <a:schemeClr val="bg1"/>
                </a:solidFill>
              </a:defRPr>
            </a:lvl1pPr>
            <a:lvl2pPr marL="774900" marR="0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Verdana" panose="020B0604030504040204" pitchFamily="34" charset="0"/>
              <a:buChar char="‒"/>
              <a:tabLst/>
              <a:defRPr lang="en-US" sz="20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Item 1 -- Message</a:t>
            </a:r>
          </a:p>
          <a:p>
            <a:pPr lvl="1"/>
            <a:r>
              <a:rPr lang="en-US" dirty="0"/>
              <a:t>Sub item 1</a:t>
            </a:r>
          </a:p>
          <a:p>
            <a:pPr lvl="1"/>
            <a:r>
              <a:rPr lang="en-US" altLang="zh-TW" dirty="0"/>
              <a:t>Sub item 2</a:t>
            </a:r>
            <a:endParaRPr lang="en-US" dirty="0"/>
          </a:p>
          <a:p>
            <a:pPr lvl="0"/>
            <a:r>
              <a:rPr lang="en-US" dirty="0"/>
              <a:t>Item 2 -- Message</a:t>
            </a:r>
          </a:p>
          <a:p>
            <a:pPr lvl="0"/>
            <a:r>
              <a:rPr lang="en-US" dirty="0"/>
              <a:t>Item 3 -- Message</a:t>
            </a:r>
          </a:p>
          <a:p>
            <a:pPr lvl="0"/>
            <a:r>
              <a:rPr lang="en-US" dirty="0"/>
              <a:t>Item 4 -- Message</a:t>
            </a:r>
          </a:p>
          <a:p>
            <a:pPr lvl="0"/>
            <a:r>
              <a:rPr lang="en-US" dirty="0"/>
              <a:t>Item 5 -- Message</a:t>
            </a:r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886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0A8177C2-6239-4932-99F4-6CBA8670D6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8" name="Picture 7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2EEB1D01-3B75-4BCB-BD6E-38D92A66A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0D8E53-B67F-4BD0-AEBC-66C0494E1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30" y="3327451"/>
            <a:ext cx="6832142" cy="1201004"/>
          </a:xfrm>
        </p:spPr>
        <p:txBody>
          <a:bodyPr anchor="ctr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Slide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50BC3B1-510C-4B7C-A6B6-213AD8F4AC9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CEFEBB-5E2B-4EFD-AAC5-35BCAF10F2D4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BE74A5E-121C-4968-AADB-C75ED0BA8B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5630" y="4536891"/>
            <a:ext cx="5329286" cy="434105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2331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0 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778A1166-4667-448B-8EE5-270FA00C8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Style#0 Empty Page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325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0 Basic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778A1166-4667-448B-8EE5-270FA00C8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anchor="ctr">
            <a:noAutofit/>
          </a:bodyPr>
          <a:lstStyle>
            <a:lvl1pPr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Style#0 Basic Page 01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502726"/>
            <a:ext cx="10818778" cy="4574224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20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8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 baseline="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Item 0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 </a:t>
            </a:r>
          </a:p>
          <a:p>
            <a:pPr lvl="4"/>
            <a:r>
              <a:rPr lang="en-US" dirty="0"/>
              <a:t>Level 5</a:t>
            </a:r>
          </a:p>
          <a:p>
            <a:pPr lvl="2"/>
            <a:endParaRPr lang="en-US" dirty="0"/>
          </a:p>
          <a:p>
            <a:pPr lvl="0"/>
            <a:r>
              <a:rPr lang="en-US" altLang="zh-TW" dirty="0"/>
              <a:t>Level 1 Item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53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0 Basic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778A1166-4667-448B-8EE5-270FA00C8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anchor="ctr">
            <a:noAutofit/>
          </a:bodyPr>
          <a:lstStyle>
            <a:lvl1pPr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Style#0 Basic Page 02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502726"/>
            <a:ext cx="10818778" cy="4574224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b="1" kern="1200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20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8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Level 1 Item 0</a:t>
            </a:r>
          </a:p>
          <a:p>
            <a:pPr lvl="1"/>
            <a:r>
              <a:rPr lang="en-US" altLang="zh-TW" dirty="0"/>
              <a:t>Level 2</a:t>
            </a:r>
          </a:p>
          <a:p>
            <a:pPr lvl="2"/>
            <a:r>
              <a:rPr lang="en-US" altLang="zh-TW" dirty="0"/>
              <a:t>Level 3</a:t>
            </a:r>
          </a:p>
          <a:p>
            <a:pPr lvl="3"/>
            <a:r>
              <a:rPr lang="en-US" altLang="zh-TW" dirty="0"/>
              <a:t>Level 4 </a:t>
            </a:r>
          </a:p>
          <a:p>
            <a:pPr lvl="4"/>
            <a:r>
              <a:rPr lang="en-US" altLang="zh-TW" dirty="0"/>
              <a:t>Level 5</a:t>
            </a:r>
          </a:p>
          <a:p>
            <a:pPr lvl="2"/>
            <a:endParaRPr lang="en-US" altLang="zh-TW" dirty="0"/>
          </a:p>
          <a:p>
            <a:pPr lvl="0"/>
            <a:r>
              <a:rPr lang="en-US" altLang="zh-TW" dirty="0"/>
              <a:t>Level 1 Item 1</a:t>
            </a:r>
          </a:p>
        </p:txBody>
      </p:sp>
    </p:spTree>
    <p:extLst>
      <p:ext uri="{BB962C8B-B14F-4D97-AF65-F5344CB8AC3E}">
        <p14:creationId xmlns:p14="http://schemas.microsoft.com/office/powerpoint/2010/main" val="1774634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0 Horizontal Picture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778A1166-4667-448B-8EE5-270FA00C8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Style#0 Horizontal Picture Page 01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693746"/>
            <a:ext cx="5632314" cy="4145080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8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Level 1 Item 0</a:t>
            </a:r>
          </a:p>
          <a:p>
            <a:pPr lvl="1"/>
            <a:r>
              <a:rPr lang="en-US" altLang="zh-TW" dirty="0"/>
              <a:t>Level 2</a:t>
            </a:r>
          </a:p>
          <a:p>
            <a:pPr lvl="2"/>
            <a:r>
              <a:rPr lang="en-US" altLang="zh-TW" dirty="0"/>
              <a:t>Level 3</a:t>
            </a:r>
          </a:p>
          <a:p>
            <a:pPr lvl="3"/>
            <a:r>
              <a:rPr lang="en-US" altLang="zh-TW" dirty="0"/>
              <a:t>Level 4 </a:t>
            </a:r>
          </a:p>
          <a:p>
            <a:pPr lvl="4"/>
            <a:r>
              <a:rPr lang="en-US" altLang="zh-TW" dirty="0"/>
              <a:t>Level 5</a:t>
            </a:r>
          </a:p>
          <a:p>
            <a:pPr lvl="2"/>
            <a:endParaRPr lang="en-US" altLang="zh-TW" dirty="0"/>
          </a:p>
          <a:p>
            <a:pPr lvl="0"/>
            <a:r>
              <a:rPr lang="en-US" altLang="zh-TW" dirty="0"/>
              <a:t>Level 1 Item 1</a:t>
            </a:r>
          </a:p>
          <a:p>
            <a:pPr lvl="1"/>
            <a:r>
              <a:rPr lang="en-US" altLang="zh-TW" dirty="0"/>
              <a:t>Level 2 item</a:t>
            </a:r>
          </a:p>
          <a:p>
            <a:pPr lvl="0"/>
            <a:endParaRPr lang="en-US" dirty="0"/>
          </a:p>
        </p:txBody>
      </p:sp>
      <p:pic>
        <p:nvPicPr>
          <p:cNvPr id="14" name="Graphic 6">
            <a:extLst>
              <a:ext uri="{FF2B5EF4-FFF2-40B4-BE49-F238E27FC236}">
                <a16:creationId xmlns:a16="http://schemas.microsoft.com/office/drawing/2014/main" id="{A3C9848B-E6FE-4076-AA67-8CA6C8372BE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7425" y="2902678"/>
            <a:ext cx="3020072" cy="3046277"/>
          </a:xfrm>
          <a:prstGeom prst="rect">
            <a:avLst/>
          </a:prstGeom>
        </p:spPr>
      </p:pic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BD79D6A2-AB02-4516-B9D4-83F1E86E53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9818" y="1693746"/>
            <a:ext cx="5173531" cy="3983154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23F87"/>
                </a:solidFill>
                <a:latin typeface="+mn-lt"/>
              </a:defRPr>
            </a:lvl1pPr>
          </a:lstStyle>
          <a:p>
            <a:r>
              <a:rPr lang="es-ES" dirty="0"/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95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0 Horizontal Picture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778A1166-4667-448B-8EE5-270FA00C8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Style#0 Horizontal Picture Page 02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693746"/>
            <a:ext cx="5632314" cy="4145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baseline="0" dirty="0" smtClean="0">
                <a:solidFill>
                  <a:schemeClr val="bg1"/>
                </a:solidFill>
              </a:defRPr>
            </a:lvl1pPr>
            <a:lvl2pPr>
              <a:defRPr lang="en-US" altLang="zh-TW" sz="1800" dirty="0" smtClean="0">
                <a:solidFill>
                  <a:schemeClr val="bg1"/>
                </a:solidFill>
              </a:defRPr>
            </a:lvl2pPr>
            <a:lvl3pPr>
              <a:defRPr lang="en-US" altLang="zh-TW" sz="1600" baseline="0" dirty="0" smtClean="0">
                <a:solidFill>
                  <a:schemeClr val="bg1"/>
                </a:solidFill>
              </a:defRPr>
            </a:lvl3pPr>
            <a:lvl4pPr>
              <a:defRPr lang="en-US" altLang="zh-TW" sz="1600" dirty="0" smtClean="0">
                <a:solidFill>
                  <a:schemeClr val="bg1"/>
                </a:solidFill>
              </a:defRPr>
            </a:lvl4pPr>
            <a:lvl5pPr>
              <a:defRPr lang="en-US" altLang="zh-TW" sz="1400" dirty="0" smtClean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r>
              <a:rPr lang="en-US" altLang="zh-TW" dirty="0"/>
              <a:t>Level 1 Item 0</a:t>
            </a:r>
          </a:p>
          <a:p>
            <a:pPr marL="573750" lvl="1" indent="-285750"/>
            <a:r>
              <a:rPr lang="en-US" altLang="zh-TW" dirty="0"/>
              <a:t>Level 2</a:t>
            </a:r>
          </a:p>
          <a:p>
            <a:pPr marL="864000" lvl="2"/>
            <a:r>
              <a:rPr lang="en-US" altLang="zh-TW" dirty="0"/>
              <a:t>Level 3</a:t>
            </a:r>
          </a:p>
          <a:p>
            <a:pPr marL="1152000" lvl="3" indent="-288000"/>
            <a:r>
              <a:rPr lang="en-US" altLang="zh-TW" dirty="0"/>
              <a:t>Level 4 </a:t>
            </a:r>
          </a:p>
          <a:p>
            <a:pPr marL="1497150" lvl="4" indent="-285750"/>
            <a:r>
              <a:rPr lang="en-US" altLang="zh-TW" dirty="0"/>
              <a:t>Level 5</a:t>
            </a:r>
          </a:p>
          <a:p>
            <a:pPr marL="864000" lvl="2"/>
            <a:endParaRPr lang="en-US" altLang="zh-TW" dirty="0"/>
          </a:p>
          <a:p>
            <a:pPr marL="285750" lvl="0" indent="-285750">
              <a:buClr>
                <a:srgbClr val="F6921E"/>
              </a:buClr>
            </a:pPr>
            <a:r>
              <a:rPr lang="en-US" altLang="zh-TW" dirty="0"/>
              <a:t>Level 1 Item 1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BD79D6A2-AB02-4516-B9D4-83F1E86E53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9818" y="1693746"/>
            <a:ext cx="5192582" cy="4145080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23F87"/>
                </a:solidFill>
                <a:latin typeface="+mn-lt"/>
              </a:defRPr>
            </a:lvl1pPr>
          </a:lstStyle>
          <a:p>
            <a:r>
              <a:rPr lang="es-ES" dirty="0"/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83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0 Vertical Picture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778A1166-4667-448B-8EE5-270FA00C8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Style#0 Vertical Picture Page 01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454524"/>
            <a:ext cx="10818778" cy="1124385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0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6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PHISON provides the engineering team and time to market, industry leading storage products</a:t>
            </a:r>
          </a:p>
        </p:txBody>
      </p:sp>
      <p:sp>
        <p:nvSpPr>
          <p:cNvPr id="14" name="內容版面配置區 4"/>
          <p:cNvSpPr>
            <a:spLocks noGrp="1"/>
          </p:cNvSpPr>
          <p:nvPr>
            <p:ph sz="quarter" idx="14"/>
          </p:nvPr>
        </p:nvSpPr>
        <p:spPr>
          <a:xfrm>
            <a:off x="535022" y="2638664"/>
            <a:ext cx="10818778" cy="35479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2000" baseline="0" dirty="0" smtClean="0">
                <a:solidFill>
                  <a:schemeClr val="bg1"/>
                </a:solidFill>
              </a:defRPr>
            </a:lvl1pPr>
            <a:lvl2pPr>
              <a:defRPr lang="zh-TW" altLang="en-US" sz="1600" dirty="0" smtClean="0">
                <a:solidFill>
                  <a:schemeClr val="bg1"/>
                </a:solidFill>
              </a:defRPr>
            </a:lvl2pPr>
            <a:lvl3pPr>
              <a:defRPr lang="zh-TW" altLang="en-US" sz="1600" baseline="0" dirty="0" smtClean="0">
                <a:solidFill>
                  <a:schemeClr val="bg1"/>
                </a:solidFill>
              </a:defRPr>
            </a:lvl3pPr>
            <a:lvl4pPr>
              <a:defRPr lang="zh-TW" altLang="en-US" sz="1600" dirty="0" smtClean="0">
                <a:solidFill>
                  <a:schemeClr val="bg1"/>
                </a:solidFill>
              </a:defRPr>
            </a:lvl4pPr>
            <a:lvl5pPr>
              <a:defRPr lang="zh-TW" altLang="en-US" sz="1400" dirty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735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0 Vertical Picture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778A1166-4667-448B-8EE5-270FA00C8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Style#0 Vertical Picture Page 02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454524"/>
            <a:ext cx="10818778" cy="1879683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0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6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PHISON provides the engineering team and time to market, industry leading storage products</a:t>
            </a:r>
          </a:p>
        </p:txBody>
      </p:sp>
      <p:sp>
        <p:nvSpPr>
          <p:cNvPr id="14" name="內容版面配置區 4"/>
          <p:cNvSpPr>
            <a:spLocks noGrp="1"/>
          </p:cNvSpPr>
          <p:nvPr>
            <p:ph sz="quarter" idx="14"/>
          </p:nvPr>
        </p:nvSpPr>
        <p:spPr>
          <a:xfrm>
            <a:off x="535022" y="3393961"/>
            <a:ext cx="10818778" cy="279265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2000" baseline="0" dirty="0" smtClean="0">
                <a:solidFill>
                  <a:schemeClr val="bg1"/>
                </a:solidFill>
              </a:defRPr>
            </a:lvl1pPr>
            <a:lvl2pPr>
              <a:defRPr lang="zh-TW" altLang="en-US" sz="1600" dirty="0" smtClean="0">
                <a:solidFill>
                  <a:schemeClr val="bg1"/>
                </a:solidFill>
              </a:defRPr>
            </a:lvl2pPr>
            <a:lvl3pPr>
              <a:defRPr lang="zh-TW" altLang="en-US" sz="1600" baseline="0" dirty="0" smtClean="0">
                <a:solidFill>
                  <a:schemeClr val="bg1"/>
                </a:solidFill>
              </a:defRPr>
            </a:lvl3pPr>
            <a:lvl4pPr>
              <a:defRPr lang="zh-TW" altLang="en-US" sz="1600" dirty="0" smtClean="0">
                <a:solidFill>
                  <a:schemeClr val="bg1"/>
                </a:solidFill>
              </a:defRPr>
            </a:lvl4pPr>
            <a:lvl5pPr>
              <a:defRPr lang="zh-TW" altLang="en-US" sz="1400" dirty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8891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1 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137B211-03A6-4A14-B392-0B89A801E9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9" name="Picture 18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E2DAEF9-C9D6-4077-A7C4-D1E844A59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2D0BC20-4B2B-4BD8-84C8-3DA0C86370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6520" y="1278813"/>
            <a:ext cx="1202046" cy="843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62CFA8-1A54-4862-A97E-7DEE3F28935B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D64C2BC-22D4-44A3-A227-AC8CBFCFC78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21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22" name="投影片編號版面配置區 8"/>
          <p:cNvSpPr>
            <a:spLocks noGrp="1"/>
          </p:cNvSpPr>
          <p:nvPr>
            <p:ph type="sldNum" sz="quarter" idx="14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Style#1 Empty Page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</p:spTree>
    <p:extLst>
      <p:ext uri="{BB962C8B-B14F-4D97-AF65-F5344CB8AC3E}">
        <p14:creationId xmlns:p14="http://schemas.microsoft.com/office/powerpoint/2010/main" val="2478855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1 Basic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137B211-03A6-4A14-B392-0B89A801E9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9" name="Picture 18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E2DAEF9-C9D6-4077-A7C4-D1E844A59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2D0BC20-4B2B-4BD8-84C8-3DA0C86370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6520" y="1278813"/>
            <a:ext cx="1202046" cy="843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62CFA8-1A54-4862-A97E-7DEE3F28935B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D64C2BC-22D4-44A3-A227-AC8CBFCFC78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21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22" name="投影片編號版面配置區 8"/>
          <p:cNvSpPr>
            <a:spLocks noGrp="1"/>
          </p:cNvSpPr>
          <p:nvPr>
            <p:ph type="sldNum" sz="quarter" idx="14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Style#1 Basic Page 01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502726"/>
            <a:ext cx="10818778" cy="4574224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20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8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 baseline="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Item 0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 </a:t>
            </a:r>
          </a:p>
          <a:p>
            <a:pPr lvl="4"/>
            <a:r>
              <a:rPr lang="en-US" dirty="0"/>
              <a:t>Level 5</a:t>
            </a:r>
          </a:p>
          <a:p>
            <a:pPr lvl="2"/>
            <a:endParaRPr lang="en-US" dirty="0"/>
          </a:p>
          <a:p>
            <a:pPr lvl="0"/>
            <a:r>
              <a:rPr lang="en-US" altLang="zh-TW" dirty="0"/>
              <a:t>Level 1 Item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013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1 Basic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137B211-03A6-4A14-B392-0B89A801E9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9" name="Picture 18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E2DAEF9-C9D6-4077-A7C4-D1E844A59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2D0BC20-4B2B-4BD8-84C8-3DA0C86370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6520" y="1278813"/>
            <a:ext cx="1202046" cy="843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62CFA8-1A54-4862-A97E-7DEE3F28935B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D64C2BC-22D4-44A3-A227-AC8CBFCFC78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21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22" name="投影片編號版面配置區 8"/>
          <p:cNvSpPr>
            <a:spLocks noGrp="1"/>
          </p:cNvSpPr>
          <p:nvPr>
            <p:ph type="sldNum" sz="quarter" idx="14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Style#1 Basic Page 02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502726"/>
            <a:ext cx="10818778" cy="4574224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b="1" kern="1200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20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8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Level 1 Item 0</a:t>
            </a:r>
          </a:p>
          <a:p>
            <a:pPr lvl="1"/>
            <a:r>
              <a:rPr lang="en-US" altLang="zh-TW" dirty="0"/>
              <a:t>Level 2</a:t>
            </a:r>
          </a:p>
          <a:p>
            <a:pPr lvl="2"/>
            <a:r>
              <a:rPr lang="en-US" altLang="zh-TW" dirty="0"/>
              <a:t>Level 3</a:t>
            </a:r>
          </a:p>
          <a:p>
            <a:pPr lvl="3"/>
            <a:r>
              <a:rPr lang="en-US" altLang="zh-TW" dirty="0"/>
              <a:t>Level 4 </a:t>
            </a:r>
          </a:p>
          <a:p>
            <a:pPr lvl="4"/>
            <a:r>
              <a:rPr lang="en-US" altLang="zh-TW" dirty="0"/>
              <a:t>Level 5</a:t>
            </a:r>
          </a:p>
          <a:p>
            <a:pPr lvl="2"/>
            <a:endParaRPr lang="en-US" altLang="zh-TW" dirty="0"/>
          </a:p>
          <a:p>
            <a:pPr lvl="0"/>
            <a:r>
              <a:rPr lang="en-US" altLang="zh-TW" dirty="0"/>
              <a:t>Level 1 Item 1</a:t>
            </a:r>
          </a:p>
        </p:txBody>
      </p:sp>
    </p:spTree>
    <p:extLst>
      <p:ext uri="{BB962C8B-B14F-4D97-AF65-F5344CB8AC3E}">
        <p14:creationId xmlns:p14="http://schemas.microsoft.com/office/powerpoint/2010/main" val="3928657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1 Horizontal Picture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137B211-03A6-4A14-B392-0B89A801E9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9" name="Picture 18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E2DAEF9-C9D6-4077-A7C4-D1E844A59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2D0BC20-4B2B-4BD8-84C8-3DA0C86370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6520" y="1278813"/>
            <a:ext cx="1202046" cy="843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62CFA8-1A54-4862-A97E-7DEE3F28935B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D64C2BC-22D4-44A3-A227-AC8CBFCFC78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21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22" name="投影片編號版面配置區 8"/>
          <p:cNvSpPr>
            <a:spLocks noGrp="1"/>
          </p:cNvSpPr>
          <p:nvPr>
            <p:ph type="sldNum" sz="quarter" idx="14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Style#1 Horizontal Picture Page 01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693746"/>
            <a:ext cx="5632314" cy="4145080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8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Level 1 Item 0</a:t>
            </a:r>
          </a:p>
          <a:p>
            <a:pPr lvl="1"/>
            <a:r>
              <a:rPr lang="en-US" altLang="zh-TW" dirty="0"/>
              <a:t>Level 2</a:t>
            </a:r>
          </a:p>
          <a:p>
            <a:pPr lvl="2"/>
            <a:r>
              <a:rPr lang="en-US" altLang="zh-TW" dirty="0"/>
              <a:t>Level 3</a:t>
            </a:r>
          </a:p>
          <a:p>
            <a:pPr lvl="3"/>
            <a:r>
              <a:rPr lang="en-US" altLang="zh-TW" dirty="0"/>
              <a:t>Level 4 </a:t>
            </a:r>
          </a:p>
          <a:p>
            <a:pPr lvl="4"/>
            <a:r>
              <a:rPr lang="en-US" altLang="zh-TW" dirty="0"/>
              <a:t>Level 5</a:t>
            </a:r>
          </a:p>
          <a:p>
            <a:pPr lvl="2"/>
            <a:endParaRPr lang="en-US" altLang="zh-TW" dirty="0"/>
          </a:p>
          <a:p>
            <a:pPr lvl="0"/>
            <a:r>
              <a:rPr lang="en-US" altLang="zh-TW" dirty="0"/>
              <a:t>Level 1 Item 1</a:t>
            </a:r>
          </a:p>
          <a:p>
            <a:pPr lvl="1"/>
            <a:r>
              <a:rPr lang="en-US" altLang="zh-TW" dirty="0"/>
              <a:t>Level 2 item</a:t>
            </a:r>
          </a:p>
          <a:p>
            <a:pPr lvl="0"/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BD79D6A2-AB02-4516-B9D4-83F1E86E53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9818" y="1693746"/>
            <a:ext cx="5173531" cy="3983154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23F87"/>
                </a:solidFill>
                <a:latin typeface="+mn-lt"/>
              </a:defRPr>
            </a:lvl1pPr>
          </a:lstStyle>
          <a:p>
            <a:r>
              <a:rPr lang="es-ES" dirty="0"/>
              <a:t>PICTURE</a:t>
            </a:r>
            <a:endParaRPr lang="en-US" dirty="0"/>
          </a:p>
        </p:txBody>
      </p:sp>
      <p:pic>
        <p:nvPicPr>
          <p:cNvPr id="18" name="Graphic 6">
            <a:extLst>
              <a:ext uri="{FF2B5EF4-FFF2-40B4-BE49-F238E27FC236}">
                <a16:creationId xmlns:a16="http://schemas.microsoft.com/office/drawing/2014/main" id="{A3C9848B-E6FE-4076-AA67-8CA6C8372BE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7425" y="2902678"/>
            <a:ext cx="3020072" cy="304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13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1 Horizontal Picture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137B211-03A6-4A14-B392-0B89A801E9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9" name="Picture 18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E2DAEF9-C9D6-4077-A7C4-D1E844A59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2D0BC20-4B2B-4BD8-84C8-3DA0C86370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6520" y="1278813"/>
            <a:ext cx="1202046" cy="843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62CFA8-1A54-4862-A97E-7DEE3F28935B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D64C2BC-22D4-44A3-A227-AC8CBFCFC78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21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22" name="投影片編號版面配置區 8"/>
          <p:cNvSpPr>
            <a:spLocks noGrp="1"/>
          </p:cNvSpPr>
          <p:nvPr>
            <p:ph type="sldNum" sz="quarter" idx="14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Style#1 Horizontal Picture Page 02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693746"/>
            <a:ext cx="5632314" cy="4145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baseline="0" dirty="0" smtClean="0">
                <a:solidFill>
                  <a:schemeClr val="bg1"/>
                </a:solidFill>
              </a:defRPr>
            </a:lvl1pPr>
            <a:lvl2pPr>
              <a:defRPr lang="en-US" altLang="zh-TW" sz="1800" dirty="0" smtClean="0">
                <a:solidFill>
                  <a:schemeClr val="bg1"/>
                </a:solidFill>
              </a:defRPr>
            </a:lvl2pPr>
            <a:lvl3pPr>
              <a:defRPr lang="en-US" altLang="zh-TW" sz="1600" baseline="0" dirty="0" smtClean="0">
                <a:solidFill>
                  <a:schemeClr val="bg1"/>
                </a:solidFill>
              </a:defRPr>
            </a:lvl3pPr>
            <a:lvl4pPr>
              <a:defRPr lang="en-US" altLang="zh-TW" sz="1600" dirty="0" smtClean="0">
                <a:solidFill>
                  <a:schemeClr val="bg1"/>
                </a:solidFill>
              </a:defRPr>
            </a:lvl4pPr>
            <a:lvl5pPr>
              <a:defRPr lang="en-US" altLang="zh-TW" sz="1400" dirty="0" smtClean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r>
              <a:rPr lang="en-US" altLang="zh-TW" dirty="0"/>
              <a:t>Level 1 Item 0</a:t>
            </a:r>
          </a:p>
          <a:p>
            <a:pPr marL="573750" lvl="1" indent="-285750"/>
            <a:r>
              <a:rPr lang="en-US" altLang="zh-TW" dirty="0"/>
              <a:t>Level 2</a:t>
            </a:r>
          </a:p>
          <a:p>
            <a:pPr marL="864000" lvl="2"/>
            <a:r>
              <a:rPr lang="en-US" altLang="zh-TW" dirty="0"/>
              <a:t>Level 3</a:t>
            </a:r>
          </a:p>
          <a:p>
            <a:pPr marL="1152000" lvl="3" indent="-288000"/>
            <a:r>
              <a:rPr lang="en-US" altLang="zh-TW" dirty="0"/>
              <a:t>Level 4 </a:t>
            </a:r>
          </a:p>
          <a:p>
            <a:pPr marL="1497150" lvl="4" indent="-285750"/>
            <a:r>
              <a:rPr lang="en-US" altLang="zh-TW" dirty="0"/>
              <a:t>Level 5</a:t>
            </a:r>
          </a:p>
          <a:p>
            <a:pPr marL="864000" lvl="2"/>
            <a:endParaRPr lang="en-US" altLang="zh-TW" dirty="0"/>
          </a:p>
          <a:p>
            <a:pPr marL="285750" lvl="0" indent="-285750">
              <a:buClr>
                <a:srgbClr val="F6921E"/>
              </a:buClr>
            </a:pPr>
            <a:r>
              <a:rPr lang="en-US" altLang="zh-TW" dirty="0"/>
              <a:t>Level 1 Item 1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BD79D6A2-AB02-4516-B9D4-83F1E86E53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9818" y="1693746"/>
            <a:ext cx="5192582" cy="4145080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23F87"/>
                </a:solidFill>
                <a:latin typeface="+mn-lt"/>
              </a:defRPr>
            </a:lvl1pPr>
          </a:lstStyle>
          <a:p>
            <a:r>
              <a:rPr lang="es-ES" dirty="0"/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22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1 Vertical Picture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137B211-03A6-4A14-B392-0B89A801E9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9" name="Picture 18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E2DAEF9-C9D6-4077-A7C4-D1E844A59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2D0BC20-4B2B-4BD8-84C8-3DA0C86370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6520" y="1278813"/>
            <a:ext cx="1202046" cy="843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62CFA8-1A54-4862-A97E-7DEE3F28935B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D64C2BC-22D4-44A3-A227-AC8CBFCFC78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21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22" name="投影片編號版面配置區 8"/>
          <p:cNvSpPr>
            <a:spLocks noGrp="1"/>
          </p:cNvSpPr>
          <p:nvPr>
            <p:ph type="sldNum" sz="quarter" idx="14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Style#1 Vertical Picture Page 01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454524"/>
            <a:ext cx="10818778" cy="1124385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0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6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PHISON provides the engineering team and time to market, industry leading storage products</a:t>
            </a:r>
          </a:p>
        </p:txBody>
      </p:sp>
      <p:sp>
        <p:nvSpPr>
          <p:cNvPr id="17" name="內容版面配置區 4"/>
          <p:cNvSpPr>
            <a:spLocks noGrp="1"/>
          </p:cNvSpPr>
          <p:nvPr>
            <p:ph sz="quarter" idx="16"/>
          </p:nvPr>
        </p:nvSpPr>
        <p:spPr>
          <a:xfrm>
            <a:off x="535022" y="2638664"/>
            <a:ext cx="10818778" cy="35479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2000" baseline="0" dirty="0" smtClean="0">
                <a:solidFill>
                  <a:schemeClr val="bg1"/>
                </a:solidFill>
              </a:defRPr>
            </a:lvl1pPr>
            <a:lvl2pPr>
              <a:defRPr lang="zh-TW" altLang="en-US" sz="1600" dirty="0" smtClean="0">
                <a:solidFill>
                  <a:schemeClr val="bg1"/>
                </a:solidFill>
              </a:defRPr>
            </a:lvl2pPr>
            <a:lvl3pPr>
              <a:defRPr lang="zh-TW" altLang="en-US" sz="1600" baseline="0" dirty="0" smtClean="0">
                <a:solidFill>
                  <a:schemeClr val="bg1"/>
                </a:solidFill>
              </a:defRPr>
            </a:lvl3pPr>
            <a:lvl4pPr>
              <a:defRPr lang="zh-TW" altLang="en-US" sz="1600" dirty="0" smtClean="0">
                <a:solidFill>
                  <a:schemeClr val="bg1"/>
                </a:solidFill>
              </a:defRPr>
            </a:lvl4pPr>
            <a:lvl5pPr>
              <a:defRPr lang="zh-TW" altLang="en-US" sz="1400" dirty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91868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1 Vertical Picture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137B211-03A6-4A14-B392-0B89A801E9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9" name="Picture 18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E2DAEF9-C9D6-4077-A7C4-D1E844A59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2D0BC20-4B2B-4BD8-84C8-3DA0C86370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6520" y="1278813"/>
            <a:ext cx="1202046" cy="843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62CFA8-1A54-4862-A97E-7DEE3F28935B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D64C2BC-22D4-44A3-A227-AC8CBFCFC78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21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22" name="投影片編號版面配置區 8"/>
          <p:cNvSpPr>
            <a:spLocks noGrp="1"/>
          </p:cNvSpPr>
          <p:nvPr>
            <p:ph type="sldNum" sz="quarter" idx="14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Style#1 Vertical Picture Page 02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454524"/>
            <a:ext cx="10818778" cy="1879683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0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6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PHISON provides the engineering team and time to market, industry leading storage products</a:t>
            </a:r>
          </a:p>
        </p:txBody>
      </p:sp>
      <p:sp>
        <p:nvSpPr>
          <p:cNvPr id="17" name="內容版面配置區 4"/>
          <p:cNvSpPr>
            <a:spLocks noGrp="1"/>
          </p:cNvSpPr>
          <p:nvPr>
            <p:ph sz="quarter" idx="16"/>
          </p:nvPr>
        </p:nvSpPr>
        <p:spPr>
          <a:xfrm>
            <a:off x="535022" y="3393961"/>
            <a:ext cx="10818778" cy="279265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2000" baseline="0" dirty="0" smtClean="0">
                <a:solidFill>
                  <a:schemeClr val="bg1"/>
                </a:solidFill>
              </a:defRPr>
            </a:lvl1pPr>
            <a:lvl2pPr>
              <a:defRPr lang="zh-TW" altLang="en-US" sz="1600" dirty="0" smtClean="0">
                <a:solidFill>
                  <a:schemeClr val="bg1"/>
                </a:solidFill>
              </a:defRPr>
            </a:lvl2pPr>
            <a:lvl3pPr>
              <a:defRPr lang="zh-TW" altLang="en-US" sz="1600" baseline="0" dirty="0" smtClean="0">
                <a:solidFill>
                  <a:schemeClr val="bg1"/>
                </a:solidFill>
              </a:defRPr>
            </a:lvl3pPr>
            <a:lvl4pPr>
              <a:defRPr lang="zh-TW" altLang="en-US" sz="1600" dirty="0" smtClean="0">
                <a:solidFill>
                  <a:schemeClr val="bg1"/>
                </a:solidFill>
              </a:defRPr>
            </a:lvl4pPr>
            <a:lvl5pPr>
              <a:defRPr lang="zh-TW" altLang="en-US" sz="1400" dirty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33211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2 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Style#2 Empty Page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07559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2 Basic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Style#2 Basic Page 01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502726"/>
            <a:ext cx="10818778" cy="4574224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20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8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 baseline="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Item 0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 </a:t>
            </a:r>
          </a:p>
          <a:p>
            <a:pPr lvl="4"/>
            <a:r>
              <a:rPr lang="en-US" dirty="0"/>
              <a:t>Level 5</a:t>
            </a:r>
          </a:p>
          <a:p>
            <a:pPr lvl="2"/>
            <a:endParaRPr lang="en-US" dirty="0"/>
          </a:p>
          <a:p>
            <a:pPr lvl="0"/>
            <a:r>
              <a:rPr lang="en-US" altLang="zh-TW" dirty="0"/>
              <a:t>Level 1 Item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827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2 Basic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Style#2 Basic Page 02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502726"/>
            <a:ext cx="10818778" cy="4574224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b="1" kern="1200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20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8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Level 1 Item 0</a:t>
            </a:r>
          </a:p>
          <a:p>
            <a:pPr lvl="1"/>
            <a:r>
              <a:rPr lang="en-US" altLang="zh-TW" dirty="0"/>
              <a:t>Level 2</a:t>
            </a:r>
          </a:p>
          <a:p>
            <a:pPr lvl="2"/>
            <a:r>
              <a:rPr lang="en-US" altLang="zh-TW" dirty="0"/>
              <a:t>Level 3</a:t>
            </a:r>
          </a:p>
          <a:p>
            <a:pPr lvl="3"/>
            <a:r>
              <a:rPr lang="en-US" altLang="zh-TW" dirty="0"/>
              <a:t>Level 4 </a:t>
            </a:r>
          </a:p>
          <a:p>
            <a:pPr lvl="4"/>
            <a:r>
              <a:rPr lang="en-US" altLang="zh-TW" dirty="0"/>
              <a:t>Level 5</a:t>
            </a:r>
          </a:p>
          <a:p>
            <a:pPr lvl="2"/>
            <a:endParaRPr lang="en-US" altLang="zh-TW" dirty="0"/>
          </a:p>
          <a:p>
            <a:pPr lvl="0"/>
            <a:r>
              <a:rPr lang="en-US" altLang="zh-TW" dirty="0"/>
              <a:t>Level 1 Item 1</a:t>
            </a:r>
          </a:p>
        </p:txBody>
      </p:sp>
    </p:spTree>
    <p:extLst>
      <p:ext uri="{BB962C8B-B14F-4D97-AF65-F5344CB8AC3E}">
        <p14:creationId xmlns:p14="http://schemas.microsoft.com/office/powerpoint/2010/main" val="33151057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2 Horizontal Picture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Style#2 Horizontal Picture Page 01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693746"/>
            <a:ext cx="5632314" cy="4145080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8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Level 1 Item 0</a:t>
            </a:r>
          </a:p>
          <a:p>
            <a:pPr lvl="1"/>
            <a:r>
              <a:rPr lang="en-US" altLang="zh-TW" dirty="0"/>
              <a:t>Level 2</a:t>
            </a:r>
          </a:p>
          <a:p>
            <a:pPr lvl="2"/>
            <a:r>
              <a:rPr lang="en-US" altLang="zh-TW" dirty="0"/>
              <a:t>Level 3</a:t>
            </a:r>
          </a:p>
          <a:p>
            <a:pPr lvl="3"/>
            <a:r>
              <a:rPr lang="en-US" altLang="zh-TW" dirty="0"/>
              <a:t>Level 4 </a:t>
            </a:r>
          </a:p>
          <a:p>
            <a:pPr lvl="4"/>
            <a:r>
              <a:rPr lang="en-US" altLang="zh-TW" dirty="0"/>
              <a:t>Level 5</a:t>
            </a:r>
          </a:p>
          <a:p>
            <a:pPr lvl="2"/>
            <a:endParaRPr lang="en-US" altLang="zh-TW" dirty="0"/>
          </a:p>
          <a:p>
            <a:pPr lvl="0"/>
            <a:r>
              <a:rPr lang="en-US" altLang="zh-TW" dirty="0"/>
              <a:t>Level 1 Item 1</a:t>
            </a:r>
          </a:p>
          <a:p>
            <a:pPr lvl="1"/>
            <a:r>
              <a:rPr lang="en-US" altLang="zh-TW" dirty="0"/>
              <a:t>Level 2 item</a:t>
            </a:r>
          </a:p>
          <a:p>
            <a:pPr lvl="0"/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BD79D6A2-AB02-4516-B9D4-83F1E86E53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9818" y="1693746"/>
            <a:ext cx="5173531" cy="3983154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23F87"/>
                </a:solidFill>
                <a:latin typeface="+mn-lt"/>
              </a:defRPr>
            </a:lvl1pPr>
          </a:lstStyle>
          <a:p>
            <a:r>
              <a:rPr lang="es-ES" dirty="0"/>
              <a:t>PICTURE</a:t>
            </a:r>
            <a:endParaRPr lang="en-US" dirty="0"/>
          </a:p>
        </p:txBody>
      </p:sp>
      <p:pic>
        <p:nvPicPr>
          <p:cNvPr id="20" name="Graphic 6">
            <a:extLst>
              <a:ext uri="{FF2B5EF4-FFF2-40B4-BE49-F238E27FC236}">
                <a16:creationId xmlns:a16="http://schemas.microsoft.com/office/drawing/2014/main" id="{A3C9848B-E6FE-4076-AA67-8CA6C8372BE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7425" y="2902678"/>
            <a:ext cx="3020072" cy="304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464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2 Horizontal Picture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Style#2 Horizontal Picture Page 02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693746"/>
            <a:ext cx="5632314" cy="4145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baseline="0" dirty="0" smtClean="0">
                <a:solidFill>
                  <a:schemeClr val="bg1"/>
                </a:solidFill>
              </a:defRPr>
            </a:lvl1pPr>
            <a:lvl2pPr>
              <a:defRPr lang="en-US" altLang="zh-TW" sz="1800" dirty="0" smtClean="0">
                <a:solidFill>
                  <a:schemeClr val="bg1"/>
                </a:solidFill>
              </a:defRPr>
            </a:lvl2pPr>
            <a:lvl3pPr>
              <a:defRPr lang="en-US" altLang="zh-TW" sz="1600" baseline="0" dirty="0" smtClean="0">
                <a:solidFill>
                  <a:schemeClr val="bg1"/>
                </a:solidFill>
              </a:defRPr>
            </a:lvl3pPr>
            <a:lvl4pPr>
              <a:defRPr lang="en-US" altLang="zh-TW" sz="1600" dirty="0" smtClean="0">
                <a:solidFill>
                  <a:schemeClr val="bg1"/>
                </a:solidFill>
              </a:defRPr>
            </a:lvl4pPr>
            <a:lvl5pPr>
              <a:defRPr lang="en-US" altLang="zh-TW" sz="1400" dirty="0" smtClean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r>
              <a:rPr lang="en-US" altLang="zh-TW" dirty="0"/>
              <a:t>Level 1 Item 0</a:t>
            </a:r>
          </a:p>
          <a:p>
            <a:pPr marL="573750" lvl="1" indent="-285750"/>
            <a:r>
              <a:rPr lang="en-US" altLang="zh-TW" dirty="0"/>
              <a:t>Level 2</a:t>
            </a:r>
          </a:p>
          <a:p>
            <a:pPr marL="864000" lvl="2"/>
            <a:r>
              <a:rPr lang="en-US" altLang="zh-TW" dirty="0"/>
              <a:t>Level 3</a:t>
            </a:r>
          </a:p>
          <a:p>
            <a:pPr marL="1152000" lvl="3" indent="-288000"/>
            <a:r>
              <a:rPr lang="en-US" altLang="zh-TW" dirty="0"/>
              <a:t>Level 4 </a:t>
            </a:r>
          </a:p>
          <a:p>
            <a:pPr marL="1497150" lvl="4" indent="-285750"/>
            <a:r>
              <a:rPr lang="en-US" altLang="zh-TW" dirty="0"/>
              <a:t>Level 5</a:t>
            </a:r>
          </a:p>
          <a:p>
            <a:pPr marL="864000" lvl="2"/>
            <a:endParaRPr lang="en-US" altLang="zh-TW" dirty="0"/>
          </a:p>
          <a:p>
            <a:pPr marL="285750" lvl="0" indent="-285750">
              <a:buClr>
                <a:srgbClr val="F6921E"/>
              </a:buClr>
            </a:pPr>
            <a:r>
              <a:rPr lang="en-US" altLang="zh-TW" dirty="0"/>
              <a:t>Level 1 Item 1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BD79D6A2-AB02-4516-B9D4-83F1E86E53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9818" y="1693746"/>
            <a:ext cx="5192582" cy="4145080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23F87"/>
                </a:solidFill>
                <a:latin typeface="+mn-lt"/>
              </a:defRPr>
            </a:lvl1pPr>
          </a:lstStyle>
          <a:p>
            <a:r>
              <a:rPr lang="es-ES" dirty="0"/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1015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2 Vertical Picture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Style#2 Vertical Picture Page 01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454524"/>
            <a:ext cx="10818778" cy="1124385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0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6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PHISON provides the engineering team and time to market, industry leading storage products</a:t>
            </a:r>
          </a:p>
        </p:txBody>
      </p:sp>
      <p:sp>
        <p:nvSpPr>
          <p:cNvPr id="19" name="內容版面配置區 4"/>
          <p:cNvSpPr>
            <a:spLocks noGrp="1"/>
          </p:cNvSpPr>
          <p:nvPr>
            <p:ph sz="quarter" idx="16"/>
          </p:nvPr>
        </p:nvSpPr>
        <p:spPr>
          <a:xfrm>
            <a:off x="535022" y="2638664"/>
            <a:ext cx="10818778" cy="35479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2000" baseline="0" dirty="0" smtClean="0">
                <a:solidFill>
                  <a:schemeClr val="bg1"/>
                </a:solidFill>
              </a:defRPr>
            </a:lvl1pPr>
            <a:lvl2pPr>
              <a:defRPr lang="zh-TW" altLang="en-US" sz="1600" dirty="0" smtClean="0">
                <a:solidFill>
                  <a:schemeClr val="bg1"/>
                </a:solidFill>
              </a:defRPr>
            </a:lvl2pPr>
            <a:lvl3pPr>
              <a:defRPr lang="zh-TW" altLang="en-US" sz="1600" baseline="0" dirty="0" smtClean="0">
                <a:solidFill>
                  <a:schemeClr val="bg1"/>
                </a:solidFill>
              </a:defRPr>
            </a:lvl3pPr>
            <a:lvl4pPr>
              <a:defRPr lang="zh-TW" altLang="en-US" sz="1600" dirty="0" smtClean="0">
                <a:solidFill>
                  <a:schemeClr val="bg1"/>
                </a:solidFill>
              </a:defRPr>
            </a:lvl4pPr>
            <a:lvl5pPr>
              <a:defRPr lang="zh-TW" altLang="en-US" sz="1400" dirty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55186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2 Vertical Picture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6600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Style#2 Vertical Picture Page 02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454524"/>
            <a:ext cx="10818778" cy="1879683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0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6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PHISON provides the engineering team and time to market, industry leading storage products</a:t>
            </a:r>
          </a:p>
        </p:txBody>
      </p:sp>
      <p:sp>
        <p:nvSpPr>
          <p:cNvPr id="19" name="內容版面配置區 4"/>
          <p:cNvSpPr>
            <a:spLocks noGrp="1"/>
          </p:cNvSpPr>
          <p:nvPr>
            <p:ph sz="quarter" idx="16"/>
          </p:nvPr>
        </p:nvSpPr>
        <p:spPr>
          <a:xfrm>
            <a:off x="535022" y="3393961"/>
            <a:ext cx="10818778" cy="279265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2000" baseline="0" dirty="0" smtClean="0">
                <a:solidFill>
                  <a:schemeClr val="bg1"/>
                </a:solidFill>
              </a:defRPr>
            </a:lvl1pPr>
            <a:lvl2pPr>
              <a:defRPr lang="zh-TW" altLang="en-US" sz="1600" dirty="0" smtClean="0">
                <a:solidFill>
                  <a:schemeClr val="bg1"/>
                </a:solidFill>
              </a:defRPr>
            </a:lvl2pPr>
            <a:lvl3pPr>
              <a:defRPr lang="zh-TW" altLang="en-US" sz="1600" baseline="0" dirty="0" smtClean="0">
                <a:solidFill>
                  <a:schemeClr val="bg1"/>
                </a:solidFill>
              </a:defRPr>
            </a:lvl3pPr>
            <a:lvl4pPr>
              <a:defRPr lang="zh-TW" altLang="en-US" sz="1600" dirty="0" smtClean="0">
                <a:solidFill>
                  <a:schemeClr val="bg1"/>
                </a:solidFill>
              </a:defRPr>
            </a:lvl4pPr>
            <a:lvl5pPr>
              <a:defRPr lang="zh-TW" altLang="en-US" sz="1400" dirty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92606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3 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Style#3 Empty Page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</p:spTree>
    <p:extLst>
      <p:ext uri="{BB962C8B-B14F-4D97-AF65-F5344CB8AC3E}">
        <p14:creationId xmlns:p14="http://schemas.microsoft.com/office/powerpoint/2010/main" val="35646920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3 Basic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Style#3 Basic Page 01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502726"/>
            <a:ext cx="10818778" cy="4574224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20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8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 baseline="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Item 0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 </a:t>
            </a:r>
          </a:p>
          <a:p>
            <a:pPr lvl="4"/>
            <a:r>
              <a:rPr lang="en-US" dirty="0"/>
              <a:t>Level 5</a:t>
            </a:r>
          </a:p>
          <a:p>
            <a:pPr lvl="2"/>
            <a:endParaRPr lang="en-US" dirty="0"/>
          </a:p>
          <a:p>
            <a:pPr lvl="0"/>
            <a:r>
              <a:rPr lang="en-US" altLang="zh-TW" dirty="0"/>
              <a:t>Level 1 Item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5066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3 Basic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Style#3 Basic Page 02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502726"/>
            <a:ext cx="10818778" cy="4574224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b="1" kern="1200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20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8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Level 1 Item 0</a:t>
            </a:r>
          </a:p>
          <a:p>
            <a:pPr lvl="1"/>
            <a:r>
              <a:rPr lang="en-US" altLang="zh-TW" dirty="0"/>
              <a:t>Level 2</a:t>
            </a:r>
          </a:p>
          <a:p>
            <a:pPr lvl="2"/>
            <a:r>
              <a:rPr lang="en-US" altLang="zh-TW" dirty="0"/>
              <a:t>Level 3</a:t>
            </a:r>
          </a:p>
          <a:p>
            <a:pPr lvl="3"/>
            <a:r>
              <a:rPr lang="en-US" altLang="zh-TW" dirty="0"/>
              <a:t>Level 4 </a:t>
            </a:r>
          </a:p>
          <a:p>
            <a:pPr lvl="4"/>
            <a:r>
              <a:rPr lang="en-US" altLang="zh-TW" dirty="0"/>
              <a:t>Level 5</a:t>
            </a:r>
          </a:p>
          <a:p>
            <a:pPr lvl="2"/>
            <a:endParaRPr lang="en-US" altLang="zh-TW" dirty="0"/>
          </a:p>
          <a:p>
            <a:pPr lvl="0"/>
            <a:r>
              <a:rPr lang="en-US" altLang="zh-TW" dirty="0"/>
              <a:t>Level 1 Item 1</a:t>
            </a:r>
          </a:p>
        </p:txBody>
      </p:sp>
    </p:spTree>
    <p:extLst>
      <p:ext uri="{BB962C8B-B14F-4D97-AF65-F5344CB8AC3E}">
        <p14:creationId xmlns:p14="http://schemas.microsoft.com/office/powerpoint/2010/main" val="12369241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3 Horizontal Picture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Style#3 Horizontal Picture Page 01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693746"/>
            <a:ext cx="5632314" cy="4145080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8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Level 1 Item 0</a:t>
            </a:r>
          </a:p>
          <a:p>
            <a:pPr lvl="1"/>
            <a:r>
              <a:rPr lang="en-US" altLang="zh-TW" dirty="0"/>
              <a:t>Level 2</a:t>
            </a:r>
          </a:p>
          <a:p>
            <a:pPr lvl="2"/>
            <a:r>
              <a:rPr lang="en-US" altLang="zh-TW" dirty="0"/>
              <a:t>Level 3</a:t>
            </a:r>
          </a:p>
          <a:p>
            <a:pPr lvl="3"/>
            <a:r>
              <a:rPr lang="en-US" altLang="zh-TW" dirty="0"/>
              <a:t>Level 4 </a:t>
            </a:r>
          </a:p>
          <a:p>
            <a:pPr lvl="4"/>
            <a:r>
              <a:rPr lang="en-US" altLang="zh-TW" dirty="0"/>
              <a:t>Level 5</a:t>
            </a:r>
          </a:p>
          <a:p>
            <a:pPr lvl="2"/>
            <a:endParaRPr lang="en-US" altLang="zh-TW" dirty="0"/>
          </a:p>
          <a:p>
            <a:pPr lvl="0"/>
            <a:r>
              <a:rPr lang="en-US" altLang="zh-TW" dirty="0"/>
              <a:t>Level 1 Item 1</a:t>
            </a:r>
          </a:p>
          <a:p>
            <a:pPr lvl="1"/>
            <a:r>
              <a:rPr lang="en-US" altLang="zh-TW" dirty="0"/>
              <a:t>Level 2 item</a:t>
            </a:r>
          </a:p>
          <a:p>
            <a:pPr lvl="0"/>
            <a:endParaRPr lang="en-US" dirty="0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D79D6A2-AB02-4516-B9D4-83F1E86E53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9818" y="1693746"/>
            <a:ext cx="5173531" cy="3983154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23F87"/>
                </a:solidFill>
                <a:latin typeface="+mn-lt"/>
              </a:defRPr>
            </a:lvl1pPr>
          </a:lstStyle>
          <a:p>
            <a:r>
              <a:rPr lang="es-ES" dirty="0"/>
              <a:t>PICTURE</a:t>
            </a:r>
            <a:endParaRPr lang="en-US" dirty="0"/>
          </a:p>
        </p:txBody>
      </p:sp>
      <p:pic>
        <p:nvPicPr>
          <p:cNvPr id="21" name="Graphic 6">
            <a:extLst>
              <a:ext uri="{FF2B5EF4-FFF2-40B4-BE49-F238E27FC236}">
                <a16:creationId xmlns:a16="http://schemas.microsoft.com/office/drawing/2014/main" id="{A3C9848B-E6FE-4076-AA67-8CA6C8372BE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7425" y="2902678"/>
            <a:ext cx="3020072" cy="304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217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3 Horizontal Picture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Style#3 Horizontal Picture Page 02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693746"/>
            <a:ext cx="5632314" cy="4145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baseline="0" dirty="0" smtClean="0">
                <a:solidFill>
                  <a:schemeClr val="bg1"/>
                </a:solidFill>
              </a:defRPr>
            </a:lvl1pPr>
            <a:lvl2pPr>
              <a:defRPr lang="en-US" altLang="zh-TW" sz="1800" dirty="0" smtClean="0">
                <a:solidFill>
                  <a:schemeClr val="bg1"/>
                </a:solidFill>
              </a:defRPr>
            </a:lvl2pPr>
            <a:lvl3pPr>
              <a:defRPr lang="en-US" altLang="zh-TW" sz="1600" baseline="0" dirty="0" smtClean="0">
                <a:solidFill>
                  <a:schemeClr val="bg1"/>
                </a:solidFill>
              </a:defRPr>
            </a:lvl3pPr>
            <a:lvl4pPr>
              <a:defRPr lang="en-US" altLang="zh-TW" sz="1600" dirty="0" smtClean="0">
                <a:solidFill>
                  <a:schemeClr val="bg1"/>
                </a:solidFill>
              </a:defRPr>
            </a:lvl4pPr>
            <a:lvl5pPr>
              <a:defRPr lang="en-US" altLang="zh-TW" sz="1400" dirty="0" smtClean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r>
              <a:rPr lang="en-US" altLang="zh-TW" dirty="0"/>
              <a:t>Level 1 Item 0</a:t>
            </a:r>
          </a:p>
          <a:p>
            <a:pPr marL="573750" lvl="1" indent="-285750"/>
            <a:r>
              <a:rPr lang="en-US" altLang="zh-TW" dirty="0"/>
              <a:t>Level 2</a:t>
            </a:r>
          </a:p>
          <a:p>
            <a:pPr marL="864000" lvl="2"/>
            <a:r>
              <a:rPr lang="en-US" altLang="zh-TW" dirty="0"/>
              <a:t>Level 3</a:t>
            </a:r>
          </a:p>
          <a:p>
            <a:pPr marL="1152000" lvl="3" indent="-288000"/>
            <a:r>
              <a:rPr lang="en-US" altLang="zh-TW" dirty="0"/>
              <a:t>Level 4 </a:t>
            </a:r>
          </a:p>
          <a:p>
            <a:pPr marL="1497150" lvl="4" indent="-285750"/>
            <a:r>
              <a:rPr lang="en-US" altLang="zh-TW" dirty="0"/>
              <a:t>Level 5</a:t>
            </a:r>
          </a:p>
          <a:p>
            <a:pPr marL="864000" lvl="2"/>
            <a:endParaRPr lang="en-US" altLang="zh-TW" dirty="0"/>
          </a:p>
          <a:p>
            <a:pPr marL="285750" lvl="0" indent="-285750">
              <a:buClr>
                <a:srgbClr val="F6921E"/>
              </a:buClr>
            </a:pPr>
            <a:r>
              <a:rPr lang="en-US" altLang="zh-TW" dirty="0"/>
              <a:t>Level 1 Item 1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D79D6A2-AB02-4516-B9D4-83F1E86E53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9818" y="1693746"/>
            <a:ext cx="5192582" cy="4145080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23F87"/>
                </a:solidFill>
                <a:latin typeface="+mn-lt"/>
              </a:defRPr>
            </a:lvl1pPr>
          </a:lstStyle>
          <a:p>
            <a:r>
              <a:rPr lang="es-ES" dirty="0"/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055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3 Vertical Picture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Style#3 Vertical Picture Page 01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454524"/>
            <a:ext cx="10818778" cy="1124385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0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6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PHISON provides the engineering team and time to market, industry leading storage products</a:t>
            </a:r>
          </a:p>
        </p:txBody>
      </p:sp>
      <p:sp>
        <p:nvSpPr>
          <p:cNvPr id="16" name="內容版面配置區 4"/>
          <p:cNvSpPr>
            <a:spLocks noGrp="1"/>
          </p:cNvSpPr>
          <p:nvPr>
            <p:ph sz="quarter" idx="16"/>
          </p:nvPr>
        </p:nvSpPr>
        <p:spPr>
          <a:xfrm>
            <a:off x="535022" y="2638664"/>
            <a:ext cx="10818778" cy="35479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2000" baseline="0" dirty="0" smtClean="0">
                <a:solidFill>
                  <a:schemeClr val="bg1"/>
                </a:solidFill>
              </a:defRPr>
            </a:lvl1pPr>
            <a:lvl2pPr>
              <a:defRPr lang="zh-TW" altLang="en-US" sz="1600" dirty="0" smtClean="0">
                <a:solidFill>
                  <a:schemeClr val="bg1"/>
                </a:solidFill>
              </a:defRPr>
            </a:lvl2pPr>
            <a:lvl3pPr>
              <a:defRPr lang="zh-TW" altLang="en-US" sz="1600" baseline="0" dirty="0" smtClean="0">
                <a:solidFill>
                  <a:schemeClr val="bg1"/>
                </a:solidFill>
              </a:defRPr>
            </a:lvl3pPr>
            <a:lvl4pPr>
              <a:defRPr lang="zh-TW" altLang="en-US" sz="1600" dirty="0" smtClean="0">
                <a:solidFill>
                  <a:schemeClr val="bg1"/>
                </a:solidFill>
              </a:defRPr>
            </a:lvl4pPr>
            <a:lvl5pPr>
              <a:defRPr lang="zh-TW" altLang="en-US" sz="1400" dirty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66303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#3 Vertical Picture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17D01A-7EE4-46AC-9ED4-58F6F3A7EB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5C3216E-6133-4F56-94B9-8418F9A51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" y="6373368"/>
            <a:ext cx="12189630" cy="4846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05F79F6-C75B-49DA-902D-C907B0A218CE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53BB8D-CD58-4214-9CC8-843896BD6B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8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65492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Style#3 Vertical Picture Page 02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6546BD4-B335-40C5-A991-FDA7F4037640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35022" y="1020049"/>
            <a:ext cx="10818778" cy="3284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500" b="1" dirty="0">
                <a:solidFill>
                  <a:srgbClr val="F6921E"/>
                </a:solidFill>
              </a:defRPr>
            </a:lvl1pPr>
          </a:lstStyle>
          <a:p>
            <a:pPr lvl="0" indent="0">
              <a:buNone/>
            </a:pPr>
            <a:r>
              <a:rPr lang="en-US" dirty="0"/>
              <a:t>Any key message for the slide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2902B4-54C6-4CAB-AB51-15901D2596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454524"/>
            <a:ext cx="10818778" cy="1879683"/>
          </a:xfr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buClr>
                <a:srgbClr val="F6921E"/>
              </a:buClr>
              <a:buFont typeface="Arial" panose="020B0604020202020204" pitchFamily="34" charset="0"/>
              <a:buChar char="•"/>
              <a:defRPr lang="en-US" sz="20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3750" indent="-285750">
              <a:lnSpc>
                <a:spcPct val="100000"/>
              </a:lnSpc>
              <a:buFont typeface="Verdana" panose="020B0604030504040204" pitchFamily="34" charset="0"/>
              <a:buChar char="‒"/>
              <a:defRPr sz="1600">
                <a:solidFill>
                  <a:schemeClr val="bg1"/>
                </a:solidFill>
                <a:latin typeface="+mn-lt"/>
              </a:defRPr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n"/>
              <a:defRPr sz="1600" baseline="0">
                <a:solidFill>
                  <a:schemeClr val="bg1"/>
                </a:solidFill>
              </a:defRPr>
            </a:lvl3pPr>
            <a:lvl4pPr marL="1152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</a:defRPr>
            </a:lvl4pPr>
            <a:lvl5pPr marL="1497150" indent="-285750">
              <a:lnSpc>
                <a:spcPct val="100000"/>
              </a:lnSpc>
              <a:buFont typeface="Wingdings" panose="05000000000000000000" pitchFamily="2" charset="2"/>
              <a:buChar char="p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PHISON provides the engineering team and time to market, industry leading storage products</a:t>
            </a:r>
          </a:p>
        </p:txBody>
      </p:sp>
      <p:sp>
        <p:nvSpPr>
          <p:cNvPr id="16" name="內容版面配置區 4"/>
          <p:cNvSpPr>
            <a:spLocks noGrp="1"/>
          </p:cNvSpPr>
          <p:nvPr>
            <p:ph sz="quarter" idx="16"/>
          </p:nvPr>
        </p:nvSpPr>
        <p:spPr>
          <a:xfrm>
            <a:off x="535022" y="3393961"/>
            <a:ext cx="10818778" cy="279265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2000" baseline="0" dirty="0" smtClean="0">
                <a:solidFill>
                  <a:schemeClr val="bg1"/>
                </a:solidFill>
              </a:defRPr>
            </a:lvl1pPr>
            <a:lvl2pPr>
              <a:defRPr lang="zh-TW" altLang="en-US" sz="1600" dirty="0" smtClean="0">
                <a:solidFill>
                  <a:schemeClr val="bg1"/>
                </a:solidFill>
              </a:defRPr>
            </a:lvl2pPr>
            <a:lvl3pPr>
              <a:defRPr lang="zh-TW" altLang="en-US" sz="1600" baseline="0" dirty="0" smtClean="0">
                <a:solidFill>
                  <a:schemeClr val="bg1"/>
                </a:solidFill>
              </a:defRPr>
            </a:lvl3pPr>
            <a:lvl4pPr>
              <a:defRPr lang="zh-TW" altLang="en-US" sz="1600" dirty="0" smtClean="0">
                <a:solidFill>
                  <a:schemeClr val="bg1"/>
                </a:solidFill>
              </a:defRPr>
            </a:lvl4pPr>
            <a:lvl5pPr>
              <a:defRPr lang="zh-TW" altLang="en-US" sz="1400" dirty="0">
                <a:solidFill>
                  <a:schemeClr val="bg1"/>
                </a:solidFill>
              </a:defRPr>
            </a:lvl5pPr>
          </a:lstStyle>
          <a:p>
            <a:pPr marL="285750" lvl="0" indent="-285750">
              <a:buClr>
                <a:srgbClr val="F6921E"/>
              </a:buClr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64436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BF6F5CD8-5614-46C8-B9DB-6CCE47AFE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E1BF08-15FF-46D9-9EE4-729BB9255F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2489" y="0"/>
            <a:ext cx="6387142" cy="1591733"/>
          </a:xfrm>
          <a:prstGeom prst="rect">
            <a:avLst/>
          </a:prstGeom>
        </p:spPr>
      </p:pic>
      <p:pic>
        <p:nvPicPr>
          <p:cNvPr id="12" name="Picture 11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7E47BB60-8C0E-435F-A8A3-F4186E377D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939802" cy="8021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Consumer Line Color Palettes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6BB555F3-FD12-41AA-858E-B5334BFF2B3C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535022" y="1409701"/>
            <a:ext cx="10939802" cy="4516438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rgbClr val="F6921E"/>
                </a:solidFill>
                <a:latin typeface="+mn-lt"/>
              </a:defRPr>
            </a:lvl1pPr>
          </a:lstStyle>
          <a:p>
            <a:r>
              <a:rPr lang="es-ES" dirty="0"/>
              <a:t>TABLE</a:t>
            </a:r>
            <a:endParaRPr lang="en-US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D578C57C-73BD-4923-A200-7B7CD4FD3B35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A0DE0FE-71A2-4410-ACA2-EFECE3CD82F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6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7" name="投影片編號版面配置區 8"/>
          <p:cNvSpPr>
            <a:spLocks noGrp="1"/>
          </p:cNvSpPr>
          <p:nvPr>
            <p:ph type="sldNum" sz="quarter" idx="13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4815AF0A-DA0A-4E14-AE26-BD653BCAA061}"/>
              </a:ext>
            </a:extLst>
          </p:cNvPr>
          <p:cNvCxnSpPr>
            <a:cxnSpLocks/>
          </p:cNvCxnSpPr>
          <p:nvPr userDrawn="1"/>
        </p:nvCxnSpPr>
        <p:spPr>
          <a:xfrm>
            <a:off x="649941" y="1167320"/>
            <a:ext cx="2389094" cy="0"/>
          </a:xfrm>
          <a:prstGeom prst="line">
            <a:avLst/>
          </a:prstGeom>
          <a:ln w="28575">
            <a:solidFill>
              <a:srgbClr val="F692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2126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E1C25283-5EA1-4AAD-9965-3D4D01945A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9" name="Picture 8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5FE55FDA-3289-4B07-8A5E-EF6BCF55E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68"/>
            <a:ext cx="12189630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0D8E53-B67F-4BD0-AEBC-66C0494E1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981" y="2921619"/>
            <a:ext cx="5163015" cy="780586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50BC3B1-510C-4B7C-A6B6-213AD8F4AC9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CEFEBB-5E2B-4EFD-AAC5-35BCAF10F2D4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D9DDA7D-895C-4964-8A55-FEE83BD218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5980" y="3869473"/>
            <a:ext cx="5174166" cy="1449659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PHISON Knows What You Need!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AFD4A07-745D-4272-8019-CAC6725D9BB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981" y="658554"/>
            <a:ext cx="1776535" cy="350120"/>
          </a:xfrm>
          <a:prstGeom prst="rect">
            <a:avLst/>
          </a:prstGeom>
        </p:spPr>
      </p:pic>
      <p:sp>
        <p:nvSpPr>
          <p:cNvPr id="15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32225" y="6477922"/>
            <a:ext cx="3549647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6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7962900" y="6475381"/>
            <a:ext cx="725445" cy="322865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93900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888B-9DAA-4718-B47F-2EB55B7FC88A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3CE0-DBF5-4365-AA96-1C6EDDE5AA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" y="0"/>
            <a:ext cx="12192000" cy="8490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28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390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C49AE-4FB5-48E1-85D7-94439956F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D463B-7366-4F3B-B5AB-25AE56283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7597"/>
            <a:ext cx="10515600" cy="4862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182F3BE-70D5-46A2-BD8D-509E9748206D}"/>
              </a:ext>
            </a:extLst>
          </p:cNvPr>
          <p:cNvSpPr txBox="1">
            <a:spLocks/>
          </p:cNvSpPr>
          <p:nvPr userDrawn="1"/>
        </p:nvSpPr>
        <p:spPr>
          <a:xfrm>
            <a:off x="8855676" y="6475381"/>
            <a:ext cx="1161535" cy="320225"/>
          </a:xfrm>
          <a:prstGeom prst="rect">
            <a:avLst/>
          </a:prstGeom>
        </p:spPr>
        <p:txBody>
          <a:bodyPr anchor="ctr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50" b="0" i="1" kern="1200" spc="3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Lorem Ipsum dolor </a:t>
            </a:r>
            <a:endParaRPr lang="en-US" dirty="0"/>
          </a:p>
        </p:txBody>
      </p:sp>
      <p:sp>
        <p:nvSpPr>
          <p:cNvPr id="8" name="頁尾版面配置區 3"/>
          <p:cNvSpPr>
            <a:spLocks noGrp="1"/>
          </p:cNvSpPr>
          <p:nvPr>
            <p:ph type="ftr" sz="quarter" idx="3"/>
          </p:nvPr>
        </p:nvSpPr>
        <p:spPr>
          <a:xfrm>
            <a:off x="3832225" y="6477922"/>
            <a:ext cx="3549647" cy="322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250" b="0" i="1" spc="300" dirty="0">
                <a:solidFill>
                  <a:schemeClr val="bg1"/>
                </a:solidFill>
                <a:ea typeface="Roboto" panose="02000000000000000000" pitchFamily="2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</a:p>
        </p:txBody>
      </p:sp>
      <p:sp>
        <p:nvSpPr>
          <p:cNvPr id="9" name="投影片編號版面配置區 4"/>
          <p:cNvSpPr>
            <a:spLocks noGrp="1"/>
          </p:cNvSpPr>
          <p:nvPr>
            <p:ph type="sldNum" sz="quarter" idx="4"/>
          </p:nvPr>
        </p:nvSpPr>
        <p:spPr>
          <a:xfrm>
            <a:off x="7962900" y="6475381"/>
            <a:ext cx="725445" cy="322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250" b="0" i="1" spc="300" smtClean="0">
                <a:solidFill>
                  <a:schemeClr val="bg1"/>
                </a:solidFill>
                <a:ea typeface="Roboto" panose="02000000000000000000" pitchFamily="2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659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1" r:id="rId4"/>
    <p:sldLayoutId id="2147483728" r:id="rId5"/>
    <p:sldLayoutId id="2147483732" r:id="rId6"/>
    <p:sldLayoutId id="2147483733" r:id="rId7"/>
    <p:sldLayoutId id="2147483737" r:id="rId8"/>
    <p:sldLayoutId id="2147483736" r:id="rId9"/>
    <p:sldLayoutId id="2147483735" r:id="rId10"/>
    <p:sldLayoutId id="2147483734" r:id="rId11"/>
    <p:sldLayoutId id="2147483738" r:id="rId12"/>
    <p:sldLayoutId id="2147483731" r:id="rId13"/>
    <p:sldLayoutId id="2147483743" r:id="rId14"/>
    <p:sldLayoutId id="2147483742" r:id="rId15"/>
    <p:sldLayoutId id="2147483741" r:id="rId16"/>
    <p:sldLayoutId id="2147483740" r:id="rId17"/>
    <p:sldLayoutId id="2147483739" r:id="rId18"/>
    <p:sldLayoutId id="2147483729" r:id="rId19"/>
    <p:sldLayoutId id="2147483749" r:id="rId20"/>
    <p:sldLayoutId id="2147483748" r:id="rId21"/>
    <p:sldLayoutId id="2147483747" r:id="rId22"/>
    <p:sldLayoutId id="2147483746" r:id="rId23"/>
    <p:sldLayoutId id="2147483745" r:id="rId24"/>
    <p:sldLayoutId id="2147483744" r:id="rId25"/>
    <p:sldLayoutId id="2147483730" r:id="rId26"/>
    <p:sldLayoutId id="2147483755" r:id="rId27"/>
    <p:sldLayoutId id="2147483754" r:id="rId28"/>
    <p:sldLayoutId id="2147483753" r:id="rId29"/>
    <p:sldLayoutId id="2147483752" r:id="rId30"/>
    <p:sldLayoutId id="2147483751" r:id="rId31"/>
    <p:sldLayoutId id="2147483750" r:id="rId32"/>
    <p:sldLayoutId id="2147483672" r:id="rId33"/>
    <p:sldLayoutId id="2147483694" r:id="rId34"/>
    <p:sldLayoutId id="2147483756" r:id="rId3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-288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88000" algn="l" defTabSz="914400" rtl="0" eaLnBrk="1" latinLnBrk="0" hangingPunct="1">
        <a:lnSpc>
          <a:spcPct val="100000"/>
        </a:lnSpc>
        <a:spcBef>
          <a:spcPts val="500"/>
        </a:spcBef>
        <a:buFont typeface="Verdana" panose="020B0604030504040204" pitchFamily="34" charset="0"/>
        <a:buChar char="‒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08000" indent="-288000" algn="l" defTabSz="914400" rtl="0" eaLnBrk="1" latinLnBrk="0" hangingPunct="1">
        <a:lnSpc>
          <a:spcPct val="100000"/>
        </a:lnSpc>
        <a:spcBef>
          <a:spcPts val="500"/>
        </a:spcBef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6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Qwen/Qwen2.5-3B-Instruct-GGUF/tree/main" TargetMode="External"/><Relationship Id="rId2" Type="http://schemas.openxmlformats.org/officeDocument/2006/relationships/hyperlink" Target="https://github.com/ggml-org/llama.cpp.git" TargetMode="External"/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install/ubuntu/#install-using-the-repository" TargetMode="External"/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210CA6-D8F9-4054-BD30-E8B54BBF03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500" dirty="0"/>
              <a:t>KV</a:t>
            </a:r>
            <a:r>
              <a:rPr lang="zh-TW" altLang="en-US" sz="3500" dirty="0"/>
              <a:t> </a:t>
            </a:r>
            <a:r>
              <a:rPr lang="en-US" altLang="zh-TW" sz="3500" dirty="0"/>
              <a:t>cache </a:t>
            </a:r>
            <a:r>
              <a:rPr lang="zh-TW" altLang="en-US" sz="3500" dirty="0"/>
              <a:t>應用管理與挑戰</a:t>
            </a:r>
            <a:endParaRPr lang="en-US" sz="35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886046E-6CE0-4312-A14C-6E574C28D4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AI</a:t>
            </a:r>
            <a:r>
              <a:rPr lang="zh-TW" altLang="en-US" dirty="0"/>
              <a:t>新秀計畫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437D8B-07C3-425C-AB85-7C1B206B454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2026/04</a:t>
            </a:r>
          </a:p>
        </p:txBody>
      </p:sp>
    </p:spTree>
    <p:extLst>
      <p:ext uri="{BB962C8B-B14F-4D97-AF65-F5344CB8AC3E}">
        <p14:creationId xmlns:p14="http://schemas.microsoft.com/office/powerpoint/2010/main" val="3586053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A293-7996-4D5A-B416-B0C43FFB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US" dirty="0"/>
          </a:p>
        </p:txBody>
      </p:sp>
      <p:sp>
        <p:nvSpPr>
          <p:cNvPr id="55" name="文字版面配置區 5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pt-BR" altLang="zh-TW" dirty="0"/>
              <a:t>What is KV cache?</a:t>
            </a:r>
          </a:p>
          <a:p>
            <a:pPr lvl="1"/>
            <a:r>
              <a:rPr lang="pt-BR" altLang="zh-TW" dirty="0"/>
              <a:t>KV cache </a:t>
            </a:r>
            <a:r>
              <a:rPr lang="zh-TW" altLang="en-US" dirty="0"/>
              <a:t>原理介紹</a:t>
            </a:r>
            <a:endParaRPr lang="pt-BR" altLang="zh-TW" dirty="0"/>
          </a:p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 </a:t>
            </a:r>
            <a:r>
              <a:rPr lang="zh-TW" altLang="en-US" dirty="0"/>
              <a:t>應用</a:t>
            </a:r>
            <a:endParaRPr lang="pt-BR" altLang="zh-TW" dirty="0"/>
          </a:p>
          <a:p>
            <a:pPr lvl="1"/>
            <a:r>
              <a:rPr lang="en-US" altLang="zh-TW" dirty="0"/>
              <a:t>RAG</a:t>
            </a:r>
          </a:p>
          <a:p>
            <a:pPr lvl="1"/>
            <a:r>
              <a:rPr lang="en-US" altLang="zh-TW" dirty="0"/>
              <a:t>Other topic</a:t>
            </a:r>
            <a:endParaRPr lang="pt-BR" altLang="zh-TW" dirty="0"/>
          </a:p>
          <a:p>
            <a:r>
              <a:rPr lang="pt-BR" altLang="zh-TW" dirty="0"/>
              <a:t>KV cache </a:t>
            </a:r>
            <a:r>
              <a:rPr lang="zh-TW" altLang="en-US" dirty="0"/>
              <a:t>的挑戰</a:t>
            </a:r>
            <a:endParaRPr lang="pt-BR" altLang="zh-TW" dirty="0"/>
          </a:p>
          <a:p>
            <a:r>
              <a:rPr lang="pt-BR" altLang="zh-TW" dirty="0"/>
              <a:t>Conclusion</a:t>
            </a:r>
          </a:p>
          <a:p>
            <a:endParaRPr lang="en-US" altLang="zh-TW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E95AE8-2BE6-4A72-BB63-2AB8D4745F51}"/>
              </a:ext>
            </a:extLst>
          </p:cNvPr>
          <p:cNvCxnSpPr>
            <a:cxnSpLocks/>
          </p:cNvCxnSpPr>
          <p:nvPr/>
        </p:nvCxnSpPr>
        <p:spPr>
          <a:xfrm>
            <a:off x="838200" y="1678951"/>
            <a:ext cx="238909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07087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90EA-D4AD-40BE-9EA5-7363600B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is KV cache?</a:t>
            </a:r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2836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 cache Introduction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</a:t>
            </a:fld>
            <a:endParaRPr lang="en-US" altLang="zh-TW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800000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1028" name="Picture 4" descr="The architecture of the Transformer model.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815" y="1701249"/>
            <a:ext cx="7999191" cy="460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857192" y="1143001"/>
            <a:ext cx="10800000" cy="51640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Transformer – Self-attention</a:t>
            </a:r>
          </a:p>
        </p:txBody>
      </p:sp>
    </p:spTree>
    <p:extLst>
      <p:ext uri="{BB962C8B-B14F-4D97-AF65-F5344CB8AC3E}">
        <p14:creationId xmlns:p14="http://schemas.microsoft.com/office/powerpoint/2010/main" val="217246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 cache Introduction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</a:t>
            </a:fld>
            <a:endParaRPr lang="en-US" altLang="zh-TW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800000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32" y="1590537"/>
            <a:ext cx="5200839" cy="3696028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48" y="3190470"/>
            <a:ext cx="4651188" cy="302190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666" y="225455"/>
            <a:ext cx="6415786" cy="283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Casual Attention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</a:t>
            </a:fld>
            <a:endParaRPr lang="en-US" altLang="zh-TW" dirty="0"/>
          </a:p>
        </p:txBody>
      </p:sp>
      <p:pic>
        <p:nvPicPr>
          <p:cNvPr id="7" name="Google Shape;431;p83" descr="幫我製作一個背景"/>
          <p:cNvPicPr preferRelativeResize="0"/>
          <p:nvPr/>
        </p:nvPicPr>
        <p:blipFill rotWithShape="1">
          <a:blip r:embed="rId2">
            <a:alphaModFix/>
          </a:blip>
          <a:srcRect t="17952"/>
          <a:stretch/>
        </p:blipFill>
        <p:spPr>
          <a:xfrm>
            <a:off x="535022" y="1247459"/>
            <a:ext cx="11000952" cy="50746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9661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Casual Attention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7</a:t>
            </a:fld>
            <a:endParaRPr lang="en-US" altLang="zh-TW" dirty="0"/>
          </a:p>
        </p:txBody>
      </p:sp>
      <p:pic>
        <p:nvPicPr>
          <p:cNvPr id="6" name="Google Shape;437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6971" y="1299795"/>
            <a:ext cx="9951050" cy="49798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6524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 cache Introduction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8</a:t>
            </a:fld>
            <a:endParaRPr lang="en-US" altLang="zh-TW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800000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Why do we need KV cache?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在做 </a:t>
            </a:r>
            <a:r>
              <a:rPr lang="en-US" altLang="zh-TW" dirty="0">
                <a:solidFill>
                  <a:schemeClr val="bg1"/>
                </a:solidFill>
              </a:rPr>
              <a:t>Causal attention </a:t>
            </a:r>
            <a:r>
              <a:rPr lang="zh-TW" altLang="en-US" dirty="0">
                <a:solidFill>
                  <a:schemeClr val="bg1"/>
                </a:solidFill>
              </a:rPr>
              <a:t>的時候，我們只在乎之前出現的 </a:t>
            </a:r>
            <a:r>
              <a:rPr lang="en-US" altLang="zh-TW" dirty="0">
                <a:solidFill>
                  <a:schemeClr val="bg1"/>
                </a:solidFill>
              </a:rPr>
              <a:t>token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如果沒有 </a:t>
            </a:r>
            <a:r>
              <a:rPr lang="en-US" altLang="zh-TW" dirty="0">
                <a:solidFill>
                  <a:schemeClr val="bg1"/>
                </a:solidFill>
              </a:rPr>
              <a:t>Cache</a:t>
            </a:r>
            <a:r>
              <a:rPr lang="zh-TW" altLang="en-US" dirty="0">
                <a:solidFill>
                  <a:schemeClr val="bg1"/>
                </a:solidFill>
              </a:rPr>
              <a:t>，你會發現我們在計算新的 </a:t>
            </a:r>
            <a:r>
              <a:rPr lang="en-US" altLang="zh-TW" dirty="0">
                <a:solidFill>
                  <a:schemeClr val="bg1"/>
                </a:solidFill>
              </a:rPr>
              <a:t>token </a:t>
            </a:r>
            <a:r>
              <a:rPr lang="zh-TW" altLang="en-US" dirty="0">
                <a:solidFill>
                  <a:schemeClr val="bg1"/>
                </a:solidFill>
              </a:rPr>
              <a:t>的時候依然計算著之前 </a:t>
            </a:r>
            <a:r>
              <a:rPr lang="en-US" altLang="zh-TW" dirty="0">
                <a:solidFill>
                  <a:schemeClr val="bg1"/>
                </a:solidFill>
              </a:rPr>
              <a:t>token </a:t>
            </a:r>
            <a:r>
              <a:rPr lang="zh-TW" altLang="en-US" dirty="0">
                <a:solidFill>
                  <a:schemeClr val="bg1"/>
                </a:solidFill>
              </a:rPr>
              <a:t>的 </a:t>
            </a:r>
            <a:r>
              <a:rPr lang="en-US" altLang="zh-TW" dirty="0">
                <a:solidFill>
                  <a:schemeClr val="bg1"/>
                </a:solidFill>
              </a:rPr>
              <a:t>attention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但如果我們把 </a:t>
            </a:r>
            <a:r>
              <a:rPr lang="en-US" altLang="zh-TW" dirty="0">
                <a:solidFill>
                  <a:schemeClr val="bg1"/>
                </a:solidFill>
              </a:rPr>
              <a:t>K </a:t>
            </a:r>
            <a:r>
              <a:rPr lang="zh-TW" altLang="en-US" dirty="0">
                <a:solidFill>
                  <a:schemeClr val="bg1"/>
                </a:solidFill>
              </a:rPr>
              <a:t>和 </a:t>
            </a:r>
            <a:r>
              <a:rPr lang="en-US" altLang="zh-TW" dirty="0">
                <a:solidFill>
                  <a:schemeClr val="bg1"/>
                </a:solidFill>
              </a:rPr>
              <a:t>V </a:t>
            </a:r>
            <a:r>
              <a:rPr lang="zh-TW" altLang="en-US" dirty="0">
                <a:solidFill>
                  <a:schemeClr val="bg1"/>
                </a:solidFill>
              </a:rPr>
              <a:t>存起來，我們就只要計算新的 </a:t>
            </a:r>
            <a:r>
              <a:rPr lang="en-US" altLang="zh-TW" dirty="0">
                <a:solidFill>
                  <a:schemeClr val="bg1"/>
                </a:solidFill>
              </a:rPr>
              <a:t>token </a:t>
            </a:r>
            <a:r>
              <a:rPr lang="zh-TW" altLang="en-US" dirty="0">
                <a:solidFill>
                  <a:schemeClr val="bg1"/>
                </a:solidFill>
              </a:rPr>
              <a:t>就好了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這兩者之間的差距會隨著 </a:t>
            </a:r>
            <a:r>
              <a:rPr lang="en-US" altLang="zh-TW" dirty="0">
                <a:solidFill>
                  <a:schemeClr val="bg1"/>
                </a:solidFill>
              </a:rPr>
              <a:t>Request </a:t>
            </a:r>
            <a:r>
              <a:rPr lang="zh-TW" altLang="en-US" dirty="0">
                <a:solidFill>
                  <a:schemeClr val="bg1"/>
                </a:solidFill>
              </a:rPr>
              <a:t>越來越長越明顯</a:t>
            </a:r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009" y="3772958"/>
            <a:ext cx="3635886" cy="258387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112" y="3816037"/>
            <a:ext cx="3844382" cy="249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4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 cache Introduction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9</a:t>
            </a:fld>
            <a:endParaRPr lang="en-US" altLang="zh-TW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800000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Why do we need KV cache?</a:t>
            </a:r>
          </a:p>
          <a:p>
            <a:r>
              <a:rPr lang="zh-TW" altLang="en-US" sz="2000" b="1" dirty="0">
                <a:solidFill>
                  <a:schemeClr val="bg1"/>
                </a:solidFill>
              </a:rPr>
              <a:t>→ 兩次的 </a:t>
            </a:r>
            <a:r>
              <a:rPr lang="en-US" altLang="zh-TW" sz="2000" b="1" dirty="0">
                <a:solidFill>
                  <a:schemeClr val="bg1"/>
                </a:solidFill>
              </a:rPr>
              <a:t>Prompt </a:t>
            </a:r>
            <a:r>
              <a:rPr lang="zh-TW" altLang="en-US" sz="2000" b="1" dirty="0">
                <a:solidFill>
                  <a:schemeClr val="bg1"/>
                </a:solidFill>
              </a:rPr>
              <a:t>的 </a:t>
            </a:r>
            <a:r>
              <a:rPr lang="en-US" altLang="zh-TW" sz="2000" b="1" dirty="0">
                <a:solidFill>
                  <a:schemeClr val="bg1"/>
                </a:solidFill>
              </a:rPr>
              <a:t>Prefix </a:t>
            </a:r>
            <a:r>
              <a:rPr lang="zh-TW" altLang="en-US" sz="2000" b="1" dirty="0">
                <a:solidFill>
                  <a:schemeClr val="bg1"/>
                </a:solidFill>
              </a:rPr>
              <a:t>要</a:t>
            </a:r>
            <a:r>
              <a:rPr lang="zh-TW" altLang="en-US" sz="2000" b="1" dirty="0">
                <a:solidFill>
                  <a:srgbClr val="FF0000"/>
                </a:solidFill>
              </a:rPr>
              <a:t>一模一樣</a:t>
            </a:r>
            <a:r>
              <a:rPr lang="zh-TW" altLang="en-US" sz="2000" b="1" dirty="0">
                <a:solidFill>
                  <a:schemeClr val="bg1"/>
                </a:solidFill>
              </a:rPr>
              <a:t>才可以 </a:t>
            </a:r>
            <a:r>
              <a:rPr lang="en-US" altLang="zh-TW" sz="2000" b="1" dirty="0">
                <a:solidFill>
                  <a:schemeClr val="bg1"/>
                </a:solidFill>
              </a:rPr>
              <a:t>Reuse </a:t>
            </a:r>
            <a:r>
              <a:rPr lang="zh-TW" altLang="en-US" sz="2000" b="1" dirty="0">
                <a:solidFill>
                  <a:schemeClr val="bg1"/>
                </a:solidFill>
              </a:rPr>
              <a:t>重疊的 </a:t>
            </a:r>
            <a:r>
              <a:rPr lang="en-US" altLang="zh-TW" sz="2000" b="1" dirty="0">
                <a:solidFill>
                  <a:schemeClr val="bg1"/>
                </a:solidFill>
              </a:rPr>
              <a:t>Prefix </a:t>
            </a:r>
            <a:r>
              <a:rPr lang="zh-TW" altLang="en-US" sz="2000" b="1" dirty="0">
                <a:solidFill>
                  <a:schemeClr val="bg1"/>
                </a:solidFill>
              </a:rPr>
              <a:t>部分</a:t>
            </a:r>
            <a:endParaRPr lang="zh-TW" altLang="en-US" sz="2000" dirty="0">
              <a:solidFill>
                <a:schemeClr val="bg1"/>
              </a:solidFill>
            </a:endParaRPr>
          </a:p>
          <a:p>
            <a:r>
              <a:rPr lang="zh-TW" altLang="en-US" sz="2000" b="1" dirty="0">
                <a:solidFill>
                  <a:schemeClr val="bg1"/>
                </a:solidFill>
              </a:rPr>
              <a:t>→ </a:t>
            </a:r>
            <a:r>
              <a:rPr lang="en-US" altLang="zh-TW" sz="2000" b="1" dirty="0">
                <a:solidFill>
                  <a:srgbClr val="FF0000"/>
                </a:solidFill>
              </a:rPr>
              <a:t>Token</a:t>
            </a:r>
            <a:r>
              <a:rPr lang="zh-TW" altLang="en-US" sz="2000" b="1" dirty="0">
                <a:solidFill>
                  <a:srgbClr val="FF0000"/>
                </a:solidFill>
              </a:rPr>
              <a:t>長度越長</a:t>
            </a:r>
            <a:r>
              <a:rPr lang="zh-TW" altLang="en-US" sz="2000" b="1" dirty="0">
                <a:solidFill>
                  <a:schemeClr val="bg1"/>
                </a:solidFill>
              </a:rPr>
              <a:t>，效益越高</a:t>
            </a:r>
            <a:endParaRPr lang="zh-TW" altLang="en-US" sz="2000" dirty="0">
              <a:solidFill>
                <a:schemeClr val="bg1"/>
              </a:solidFill>
            </a:endParaRPr>
          </a:p>
          <a:p>
            <a:pPr lvl="1"/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6" name="Picture 2" descr="https://miro.medium.com/v2/resize:fit:700/1*uyuyOW1VBqmF5Gtv225XHQ.gif"/>
          <p:cNvPicPr>
            <a:picLocks noChangeAspect="1" noChangeArrowheads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306" y="2535581"/>
            <a:ext cx="7156039" cy="402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1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492B8D0-A25B-431E-9148-EBFA67AF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C9F4B9-0349-4076-846A-E9297064FA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10</a:t>
            </a:fld>
            <a:endParaRPr lang="en-US" altLang="zh-TW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7E4C39BC-886F-4526-A278-FD49B7C6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2" y="365126"/>
            <a:ext cx="10818778" cy="666006"/>
          </a:xfrm>
        </p:spPr>
        <p:txBody>
          <a:bodyPr/>
          <a:lstStyle/>
          <a:p>
            <a:r>
              <a:rPr lang="fr-FR" altLang="zh-TW" dirty="0"/>
              <a:t>KV Cache Reuse 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CE08835-F569-41E1-8B1E-B0122D36D5F9}"/>
              </a:ext>
            </a:extLst>
          </p:cNvPr>
          <p:cNvSpPr txBox="1"/>
          <p:nvPr/>
        </p:nvSpPr>
        <p:spPr>
          <a:xfrm>
            <a:off x="308472" y="1374881"/>
            <a:ext cx="55233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chemeClr val="bg1"/>
                </a:solidFill>
              </a:rPr>
              <a:t>範例</a:t>
            </a:r>
            <a:endParaRPr lang="zh-TW" altLang="en-US" sz="1600" dirty="0">
              <a:solidFill>
                <a:schemeClr val="bg1"/>
              </a:solidFill>
            </a:endParaRPr>
          </a:p>
          <a:p>
            <a:r>
              <a:rPr lang="zh-TW" altLang="en-US" sz="1600" dirty="0">
                <a:solidFill>
                  <a:schemeClr val="bg1"/>
                </a:solidFill>
              </a:rPr>
              <a:t>假設我們已經打了第一個 </a:t>
            </a:r>
            <a:r>
              <a:rPr lang="en-US" altLang="zh-TW" sz="1600" dirty="0">
                <a:solidFill>
                  <a:schemeClr val="bg1"/>
                </a:solidFill>
              </a:rPr>
              <a:t>Prompt (</a:t>
            </a:r>
            <a:r>
              <a:rPr lang="zh-TW" altLang="en-US" sz="1600" dirty="0">
                <a:solidFill>
                  <a:schemeClr val="bg1"/>
                </a:solidFill>
              </a:rPr>
              <a:t>紅、綠、黃、黃、藍</a:t>
            </a:r>
            <a:r>
              <a:rPr lang="en-US" altLang="zh-TW" sz="1600" dirty="0">
                <a:solidFill>
                  <a:schemeClr val="bg1"/>
                </a:solidFill>
              </a:rPr>
              <a:t>)</a:t>
            </a:r>
            <a:r>
              <a:rPr lang="zh-TW" altLang="en-US" sz="1600" dirty="0">
                <a:solidFill>
                  <a:schemeClr val="bg1"/>
                </a:solidFill>
              </a:rPr>
              <a:t>，</a:t>
            </a:r>
            <a:endParaRPr lang="en-US" altLang="zh-TW" sz="1600" dirty="0">
              <a:solidFill>
                <a:schemeClr val="bg1"/>
              </a:solidFill>
            </a:endParaRPr>
          </a:p>
          <a:p>
            <a:r>
              <a:rPr lang="zh-TW" altLang="en-US" sz="1600" dirty="0">
                <a:solidFill>
                  <a:schemeClr val="bg1"/>
                </a:solidFill>
              </a:rPr>
              <a:t>並且已經儲存好 </a:t>
            </a:r>
            <a:r>
              <a:rPr lang="en-US" altLang="zh-TW" sz="1600" dirty="0" err="1">
                <a:solidFill>
                  <a:schemeClr val="bg1"/>
                </a:solidFill>
              </a:rPr>
              <a:t>kv</a:t>
            </a:r>
            <a:r>
              <a:rPr lang="en-US" altLang="zh-TW" sz="1600" dirty="0">
                <a:solidFill>
                  <a:schemeClr val="bg1"/>
                </a:solidFill>
              </a:rPr>
              <a:t> cache </a:t>
            </a:r>
            <a:r>
              <a:rPr lang="zh-TW" altLang="en-US" sz="1600" dirty="0">
                <a:solidFill>
                  <a:schemeClr val="bg1"/>
                </a:solidFill>
              </a:rPr>
              <a:t>了</a:t>
            </a:r>
          </a:p>
          <a:p>
            <a:r>
              <a:rPr lang="zh-TW" altLang="en-US" sz="1600" dirty="0">
                <a:solidFill>
                  <a:schemeClr val="bg1"/>
                </a:solidFill>
              </a:rPr>
              <a:t>下圖不同的顏色代表著不同的 </a:t>
            </a:r>
            <a:r>
              <a:rPr lang="en-US" altLang="zh-TW" sz="1600" dirty="0">
                <a:solidFill>
                  <a:schemeClr val="bg1"/>
                </a:solidFill>
              </a:rPr>
              <a:t>token</a:t>
            </a:r>
            <a:r>
              <a:rPr lang="zh-TW" altLang="en-US" sz="1600" dirty="0">
                <a:solidFill>
                  <a:schemeClr val="bg1"/>
                </a:solidFill>
              </a:rPr>
              <a:t>，</a:t>
            </a:r>
            <a:endParaRPr lang="en-US" altLang="zh-TW" sz="1600" dirty="0">
              <a:solidFill>
                <a:schemeClr val="bg1"/>
              </a:solidFill>
            </a:endParaRPr>
          </a:p>
          <a:p>
            <a:r>
              <a:rPr lang="en-US" altLang="zh-TW" sz="1600" dirty="0">
                <a:solidFill>
                  <a:schemeClr val="bg1"/>
                </a:solidFill>
              </a:rPr>
              <a:t>Prompt </a:t>
            </a:r>
            <a:r>
              <a:rPr lang="zh-TW" altLang="en-US" sz="1600" dirty="0">
                <a:solidFill>
                  <a:schemeClr val="bg1"/>
                </a:solidFill>
              </a:rPr>
              <a:t>由 </a:t>
            </a:r>
            <a:r>
              <a:rPr lang="en-US" altLang="zh-TW" sz="1600" dirty="0">
                <a:solidFill>
                  <a:schemeClr val="bg1"/>
                </a:solidFill>
              </a:rPr>
              <a:t>column 1 </a:t>
            </a:r>
            <a:r>
              <a:rPr lang="zh-TW" altLang="en-US" sz="1600" dirty="0">
                <a:solidFill>
                  <a:schemeClr val="bg1"/>
                </a:solidFill>
              </a:rPr>
              <a:t>至 </a:t>
            </a:r>
            <a:r>
              <a:rPr lang="en-US" altLang="zh-TW" sz="1600" dirty="0">
                <a:solidFill>
                  <a:schemeClr val="bg1"/>
                </a:solidFill>
              </a:rPr>
              <a:t>column 5 </a:t>
            </a:r>
            <a:r>
              <a:rPr lang="zh-TW" altLang="en-US" sz="1600" dirty="0">
                <a:solidFill>
                  <a:schemeClr val="bg1"/>
                </a:solidFill>
              </a:rPr>
              <a:t>的 </a:t>
            </a:r>
            <a:r>
              <a:rPr lang="en-US" altLang="zh-TW" sz="1600" dirty="0">
                <a:solidFill>
                  <a:schemeClr val="bg1"/>
                </a:solidFill>
              </a:rPr>
              <a:t>token </a:t>
            </a:r>
            <a:r>
              <a:rPr lang="zh-TW" altLang="en-US" sz="1600" dirty="0">
                <a:solidFill>
                  <a:schemeClr val="bg1"/>
                </a:solidFill>
              </a:rPr>
              <a:t>組成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F29AB9D-1F5B-41A2-A23F-075D8928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72" y="2698320"/>
            <a:ext cx="2533650" cy="4191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3D234B4-25DF-4EEC-AA0F-24317D2EAE6D}"/>
              </a:ext>
            </a:extLst>
          </p:cNvPr>
          <p:cNvSpPr txBox="1"/>
          <p:nvPr/>
        </p:nvSpPr>
        <p:spPr>
          <a:xfrm>
            <a:off x="5950025" y="1366093"/>
            <a:ext cx="54037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chemeClr val="bg1"/>
                </a:solidFill>
              </a:rPr>
              <a:t>我們都先打 </a:t>
            </a:r>
            <a:r>
              <a:rPr lang="en-US" altLang="zh-TW" sz="1400" dirty="0">
                <a:solidFill>
                  <a:schemeClr val="bg1"/>
                </a:solidFill>
              </a:rPr>
              <a:t>Prompt 0 </a:t>
            </a:r>
            <a:r>
              <a:rPr lang="zh-TW" altLang="en-US" sz="1400" dirty="0">
                <a:solidFill>
                  <a:schemeClr val="bg1"/>
                </a:solidFill>
              </a:rPr>
              <a:t>再打 </a:t>
            </a:r>
            <a:r>
              <a:rPr lang="en-US" altLang="zh-TW" sz="1400" dirty="0">
                <a:solidFill>
                  <a:schemeClr val="bg1"/>
                </a:solidFill>
              </a:rPr>
              <a:t>Prompt K</a:t>
            </a:r>
            <a:r>
              <a:rPr lang="zh-TW" altLang="en-US" sz="1400" dirty="0">
                <a:solidFill>
                  <a:schemeClr val="bg1"/>
                </a:solidFill>
              </a:rPr>
              <a:t>，總共打五組，</a:t>
            </a:r>
            <a:endParaRPr lang="en-US" altLang="zh-TW" sz="1400" dirty="0">
              <a:solidFill>
                <a:schemeClr val="bg1"/>
              </a:solidFill>
            </a:endParaRPr>
          </a:p>
          <a:p>
            <a:r>
              <a:rPr lang="zh-TW" altLang="en-US" sz="1400" dirty="0">
                <a:solidFill>
                  <a:schemeClr val="bg1"/>
                </a:solidFill>
              </a:rPr>
              <a:t>每個 </a:t>
            </a:r>
            <a:r>
              <a:rPr lang="en-US" altLang="zh-TW" sz="1400" dirty="0">
                <a:solidFill>
                  <a:schemeClr val="bg1"/>
                </a:solidFill>
              </a:rPr>
              <a:t>row </a:t>
            </a:r>
            <a:r>
              <a:rPr lang="zh-TW" altLang="en-US" sz="1400" dirty="0">
                <a:solidFill>
                  <a:schemeClr val="bg1"/>
                </a:solidFill>
              </a:rPr>
              <a:t>代表著一個 </a:t>
            </a:r>
            <a:r>
              <a:rPr lang="en-US" altLang="zh-TW" sz="1400" dirty="0">
                <a:solidFill>
                  <a:schemeClr val="bg1"/>
                </a:solidFill>
              </a:rPr>
              <a:t>Prompt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bg1"/>
                </a:solidFill>
              </a:rPr>
              <a:t>Prompt 0 + Prompt 1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bg1"/>
                </a:solidFill>
              </a:rPr>
              <a:t>Prompt 0 + Prompt 2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bg1"/>
                </a:solidFill>
              </a:rPr>
              <a:t>Prompt 0 + Prompt 3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bg1"/>
                </a:solidFill>
              </a:rPr>
              <a:t>Prompt 0 + Prompt 4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bg1"/>
                </a:solidFill>
              </a:rPr>
              <a:t>Prompt 0 + Prompt 5</a:t>
            </a:r>
          </a:p>
          <a:p>
            <a:endParaRPr lang="zh-TW" altLang="en-US" sz="1400" dirty="0">
              <a:solidFill>
                <a:schemeClr val="bg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0A4FE32-E648-4E93-A49D-71FE0EDCE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208" y="1871511"/>
            <a:ext cx="2971800" cy="18478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83FDA23-875D-4B4B-848F-6F319C3EA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67" y="3951416"/>
            <a:ext cx="10706100" cy="219075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68937AD-C6B9-46EF-9D42-DC2B4CEBAB17}"/>
              </a:ext>
            </a:extLst>
          </p:cNvPr>
          <p:cNvSpPr txBox="1"/>
          <p:nvPr/>
        </p:nvSpPr>
        <p:spPr>
          <a:xfrm>
            <a:off x="478767" y="3582084"/>
            <a:ext cx="175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Hit Result</a:t>
            </a:r>
            <a:r>
              <a:rPr lang="zh-CN" altLang="en-US" b="1" dirty="0">
                <a:solidFill>
                  <a:schemeClr val="bg1"/>
                </a:solidFill>
              </a:rPr>
              <a:t>：</a:t>
            </a:r>
            <a:endParaRPr lang="zh-TW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38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Prefill &amp; Decode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11</a:t>
            </a:fld>
            <a:endParaRPr lang="en-US" altLang="zh-TW" dirty="0"/>
          </a:p>
        </p:txBody>
      </p:sp>
      <p:pic>
        <p:nvPicPr>
          <p:cNvPr id="5" name="Google Shape;449;p86" descr="What is the KV Cache? Secret of Fast LLM Inference | Towards AI"/>
          <p:cNvPicPr preferRelativeResize="0"/>
          <p:nvPr/>
        </p:nvPicPr>
        <p:blipFill rotWithShape="1">
          <a:blip r:embed="rId2">
            <a:alphaModFix/>
          </a:blip>
          <a:srcRect r="5550"/>
          <a:stretch/>
        </p:blipFill>
        <p:spPr>
          <a:xfrm>
            <a:off x="6425333" y="1289849"/>
            <a:ext cx="5718222" cy="463255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587162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Prefill </a:t>
            </a:r>
            <a:r>
              <a:rPr lang="zh-TW" altLang="en-US" dirty="0">
                <a:solidFill>
                  <a:schemeClr val="bg1"/>
                </a:solidFill>
              </a:rPr>
              <a:t>預填充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可以想像成模型一次進行計算讀懂我們的問句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Decode </a:t>
            </a:r>
            <a:r>
              <a:rPr lang="zh-TW" altLang="en-US" dirty="0">
                <a:solidFill>
                  <a:schemeClr val="bg1"/>
                </a:solidFill>
              </a:rPr>
              <a:t>解碼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可以想像成根據問題一個字一個字進行回覆</a:t>
            </a:r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5" y="4282971"/>
            <a:ext cx="6339108" cy="143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62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Prefill &amp; Decode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12</a:t>
            </a:fld>
            <a:endParaRPr lang="en-US" altLang="zh-TW" dirty="0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159007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Performance evaluation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指標分析：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TTFT (Time to First Token)</a:t>
            </a:r>
            <a:r>
              <a:rPr lang="zh-TW" altLang="en-US" dirty="0">
                <a:solidFill>
                  <a:schemeClr val="bg1"/>
                </a:solidFill>
              </a:rPr>
              <a:t>： </a:t>
            </a:r>
            <a:r>
              <a:rPr lang="en-US" altLang="zh-TW" dirty="0">
                <a:solidFill>
                  <a:schemeClr val="bg1"/>
                </a:solidFill>
              </a:rPr>
              <a:t>Prefill </a:t>
            </a:r>
            <a:r>
              <a:rPr lang="zh-TW" altLang="en-US" dirty="0">
                <a:solidFill>
                  <a:schemeClr val="bg1"/>
                </a:solidFill>
              </a:rPr>
              <a:t>速度。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TPOT (Time Per Output Token)</a:t>
            </a:r>
            <a:r>
              <a:rPr lang="zh-TW" altLang="en-US" dirty="0">
                <a:solidFill>
                  <a:schemeClr val="bg1"/>
                </a:solidFill>
              </a:rPr>
              <a:t>： </a:t>
            </a:r>
            <a:r>
              <a:rPr lang="en-US" altLang="zh-TW" dirty="0">
                <a:solidFill>
                  <a:schemeClr val="bg1"/>
                </a:solidFill>
              </a:rPr>
              <a:t>Decoding </a:t>
            </a:r>
            <a:r>
              <a:rPr lang="zh-TW" altLang="en-US" dirty="0">
                <a:solidFill>
                  <a:schemeClr val="bg1"/>
                </a:solidFill>
              </a:rPr>
              <a:t>速度。</a:t>
            </a:r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49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大小計算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13</a:t>
            </a:fld>
            <a:endParaRPr lang="en-US" altLang="zh-TW" dirty="0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327171" y="1325461"/>
            <a:ext cx="11711031" cy="4829225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KV Cache Size = 2 (K, V) * Model Precision * Number of Attention Layer * Number of Key Value Head * Hidden Dimension</a:t>
            </a:r>
            <a:endParaRPr lang="en-US" altLang="zh-TW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Model Precision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：精度，例如 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bf16 = 2 (bytes)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，可參考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config.json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中的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torch_dtype</a:t>
            </a:r>
            <a:endParaRPr lang="en-US" altLang="zh-TW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Number of Attention Layer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：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Attention layer 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的數量，可參考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config.json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中的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num_hidden_layers</a:t>
            </a:r>
            <a:endParaRPr lang="en-US" altLang="zh-TW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Number of Key Value Head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：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Key 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和 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Value Head 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的數量，可參考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config.json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中的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num_key_value_heads</a:t>
            </a:r>
            <a:endParaRPr lang="en-US" altLang="zh-TW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Hidden Dimension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：隱藏維度，可從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config.json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中的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hidden_size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和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num_attention_heads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zh-TW" alt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計算，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Hidden Dimension =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hidden_size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/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num_attention_heads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endParaRPr lang="zh-TW" altLang="en-US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51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大小計算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14</a:t>
            </a:fld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682" y="161359"/>
            <a:ext cx="6157914" cy="611354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91" y="1957609"/>
            <a:ext cx="5360255" cy="145905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77" y="3536653"/>
            <a:ext cx="2428893" cy="280990"/>
          </a:xfrm>
          <a:prstGeom prst="rect">
            <a:avLst/>
          </a:prstGeom>
        </p:spPr>
      </p:pic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199837" y="4057271"/>
            <a:ext cx="5703330" cy="2097415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>
                <a:solidFill>
                  <a:schemeClr val="bg1"/>
                </a:solidFill>
              </a:rPr>
              <a:t>Llama 3.1 8B</a:t>
            </a:r>
            <a:r>
              <a:rPr lang="zh-TW" altLang="en-US" sz="2000" dirty="0">
                <a:solidFill>
                  <a:schemeClr val="bg1"/>
                </a:solidFill>
              </a:rPr>
              <a:t>  </a:t>
            </a:r>
            <a:r>
              <a:rPr lang="en-US" altLang="zh-TW" sz="2000" dirty="0">
                <a:solidFill>
                  <a:schemeClr val="bg1"/>
                </a:solidFill>
              </a:rPr>
              <a:t>16K token length</a:t>
            </a:r>
            <a:r>
              <a:rPr lang="zh-TW" altLang="en-US" sz="2000" dirty="0">
                <a:solidFill>
                  <a:schemeClr val="bg1"/>
                </a:solidFill>
              </a:rPr>
              <a:t>為例</a:t>
            </a:r>
            <a:endParaRPr lang="en-US" altLang="zh-TW" sz="2000" dirty="0">
              <a:solidFill>
                <a:schemeClr val="bg1"/>
              </a:solidFill>
            </a:endParaRPr>
          </a:p>
          <a:p>
            <a:r>
              <a:rPr lang="en-US" altLang="zh-TW" sz="2000" dirty="0">
                <a:solidFill>
                  <a:schemeClr val="bg1"/>
                </a:solidFill>
              </a:rPr>
              <a:t>2 *16K * 2 * 32 * 8 * 4096 / 32 = 2GB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635841" y="1447295"/>
            <a:ext cx="3851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Hidden (Non-SWA) model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187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大小計算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15</a:t>
            </a:fld>
            <a:endParaRPr lang="en-US" altLang="zh-TW" dirty="0"/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Sliding Window Attention</a:t>
            </a:r>
          </a:p>
          <a:p>
            <a:pPr lvl="1"/>
            <a:r>
              <a:rPr lang="zh-TW" altLang="en-US" sz="2000" dirty="0">
                <a:solidFill>
                  <a:schemeClr val="bg1"/>
                </a:solidFill>
              </a:rPr>
              <a:t>在標準的 </a:t>
            </a:r>
            <a:r>
              <a:rPr lang="en-US" altLang="zh-TW" sz="2000" dirty="0">
                <a:solidFill>
                  <a:schemeClr val="bg1"/>
                </a:solidFill>
              </a:rPr>
              <a:t>Self-Attention </a:t>
            </a:r>
            <a:r>
              <a:rPr lang="zh-TW" altLang="en-US" sz="2000" dirty="0">
                <a:solidFill>
                  <a:schemeClr val="bg1"/>
                </a:solidFill>
              </a:rPr>
              <a:t>中，每個 </a:t>
            </a:r>
            <a:r>
              <a:rPr lang="en-US" altLang="zh-TW" sz="2000" dirty="0">
                <a:solidFill>
                  <a:schemeClr val="bg1"/>
                </a:solidFill>
              </a:rPr>
              <a:t>Token </a:t>
            </a:r>
            <a:r>
              <a:rPr lang="zh-TW" altLang="en-US" sz="2000" dirty="0">
                <a:solidFill>
                  <a:schemeClr val="bg1"/>
                </a:solidFill>
              </a:rPr>
              <a:t>都會與前面「所有」的 </a:t>
            </a:r>
            <a:r>
              <a:rPr lang="en-US" altLang="zh-TW" sz="2000" dirty="0">
                <a:solidFill>
                  <a:schemeClr val="bg1"/>
                </a:solidFill>
              </a:rPr>
              <a:t>Token </a:t>
            </a:r>
            <a:r>
              <a:rPr lang="zh-TW" altLang="en-US" sz="2000" dirty="0">
                <a:solidFill>
                  <a:schemeClr val="bg1"/>
                </a:solidFill>
              </a:rPr>
              <a:t>進行計算。</a:t>
            </a:r>
            <a:endParaRPr lang="en-US" altLang="zh-TW" sz="2000" dirty="0">
              <a:solidFill>
                <a:schemeClr val="bg1"/>
              </a:solidFill>
            </a:endParaRPr>
          </a:p>
          <a:p>
            <a:pPr lvl="1"/>
            <a:r>
              <a:rPr lang="en-US" altLang="zh-TW" sz="2000" dirty="0">
                <a:solidFill>
                  <a:schemeClr val="bg1"/>
                </a:solidFill>
              </a:rPr>
              <a:t>Sliding Window Attention </a:t>
            </a:r>
            <a:r>
              <a:rPr lang="zh-TW" altLang="en-US" sz="2000" dirty="0">
                <a:solidFill>
                  <a:schemeClr val="bg1"/>
                </a:solidFill>
              </a:rPr>
              <a:t>中，我們規定一個固定的窗口大小 </a:t>
            </a:r>
            <a:r>
              <a:rPr lang="en-US" altLang="zh-TW" sz="2000" dirty="0">
                <a:solidFill>
                  <a:schemeClr val="bg1"/>
                </a:solidFill>
              </a:rPr>
              <a:t>W</a:t>
            </a:r>
            <a:r>
              <a:rPr lang="zh-TW" altLang="en-US" sz="2000" dirty="0">
                <a:solidFill>
                  <a:schemeClr val="bg1"/>
                </a:solidFill>
              </a:rPr>
              <a:t>：</a:t>
            </a:r>
            <a:endParaRPr lang="en-US" altLang="zh-TW" sz="2000" dirty="0">
              <a:solidFill>
                <a:schemeClr val="bg1"/>
              </a:solidFill>
            </a:endParaRPr>
          </a:p>
          <a:p>
            <a:pPr lvl="2"/>
            <a:r>
              <a:rPr lang="zh-TW" altLang="en-US" sz="1600" dirty="0">
                <a:solidFill>
                  <a:schemeClr val="bg1"/>
                </a:solidFill>
              </a:rPr>
              <a:t>機制： 每個 </a:t>
            </a:r>
            <a:r>
              <a:rPr lang="en-US" altLang="zh-TW" sz="1600" dirty="0">
                <a:solidFill>
                  <a:schemeClr val="bg1"/>
                </a:solidFill>
              </a:rPr>
              <a:t>Token </a:t>
            </a:r>
            <a:r>
              <a:rPr lang="zh-TW" altLang="en-US" sz="1600" dirty="0">
                <a:solidFill>
                  <a:schemeClr val="bg1"/>
                </a:solidFill>
              </a:rPr>
              <a:t>只對其左側距離為 </a:t>
            </a:r>
            <a:r>
              <a:rPr lang="en-US" altLang="zh-TW" sz="1600" dirty="0">
                <a:solidFill>
                  <a:schemeClr val="bg1"/>
                </a:solidFill>
              </a:rPr>
              <a:t>W </a:t>
            </a:r>
            <a:r>
              <a:rPr lang="zh-TW" altLang="en-US" sz="1600" dirty="0">
                <a:solidFill>
                  <a:schemeClr val="bg1"/>
                </a:solidFill>
              </a:rPr>
              <a:t>以內的 </a:t>
            </a:r>
            <a:r>
              <a:rPr lang="en-US" altLang="zh-TW" sz="1600" dirty="0">
                <a:solidFill>
                  <a:schemeClr val="bg1"/>
                </a:solidFill>
              </a:rPr>
              <a:t>Token </a:t>
            </a:r>
            <a:r>
              <a:rPr lang="zh-TW" altLang="en-US" sz="1600" dirty="0">
                <a:solidFill>
                  <a:schemeClr val="bg1"/>
                </a:solidFill>
              </a:rPr>
              <a:t>進行 </a:t>
            </a:r>
            <a:r>
              <a:rPr lang="en-US" altLang="zh-TW" sz="1600" dirty="0">
                <a:solidFill>
                  <a:schemeClr val="bg1"/>
                </a:solidFill>
              </a:rPr>
              <a:t>Attention </a:t>
            </a:r>
          </a:p>
          <a:p>
            <a:pPr lvl="2"/>
            <a:r>
              <a:rPr lang="zh-TW" altLang="en-US" sz="1600" dirty="0">
                <a:solidFill>
                  <a:schemeClr val="bg1"/>
                </a:solidFill>
              </a:rPr>
              <a:t>計算。</a:t>
            </a:r>
            <a:r>
              <a:rPr lang="en-US" altLang="zh-TW" sz="1600" dirty="0">
                <a:solidFill>
                  <a:schemeClr val="bg1"/>
                </a:solidFill>
              </a:rPr>
              <a:t>KV Cache </a:t>
            </a:r>
            <a:r>
              <a:rPr lang="zh-TW" altLang="en-US" sz="1600" dirty="0">
                <a:solidFill>
                  <a:schemeClr val="bg1"/>
                </a:solidFill>
              </a:rPr>
              <a:t>的變化： 我們不再需要儲存整條序列的 </a:t>
            </a:r>
            <a:r>
              <a:rPr lang="en-US" altLang="zh-TW" sz="1600" dirty="0">
                <a:solidFill>
                  <a:schemeClr val="bg1"/>
                </a:solidFill>
              </a:rPr>
              <a:t>K, V</a:t>
            </a:r>
            <a:r>
              <a:rPr lang="zh-TW" altLang="en-US" sz="1600" dirty="0">
                <a:solidFill>
                  <a:schemeClr val="bg1"/>
                </a:solidFill>
              </a:rPr>
              <a:t>，而只需要維護一個長度為 </a:t>
            </a:r>
            <a:r>
              <a:rPr lang="en-US" altLang="zh-TW" sz="1600" dirty="0">
                <a:solidFill>
                  <a:schemeClr val="bg1"/>
                </a:solidFill>
              </a:rPr>
              <a:t>W </a:t>
            </a:r>
            <a:r>
              <a:rPr lang="zh-TW" altLang="en-US" sz="1600" dirty="0">
                <a:solidFill>
                  <a:schemeClr val="bg1"/>
                </a:solidFill>
              </a:rPr>
              <a:t>的 「環形緩存」（</a:t>
            </a:r>
            <a:r>
              <a:rPr lang="en-US" altLang="zh-TW" sz="1600" dirty="0">
                <a:solidFill>
                  <a:schemeClr val="bg1"/>
                </a:solidFill>
              </a:rPr>
              <a:t>Circular Buffer</a:t>
            </a:r>
            <a:r>
              <a:rPr lang="zh-TW" altLang="en-US" sz="1600" dirty="0">
                <a:solidFill>
                  <a:schemeClr val="bg1"/>
                </a:solidFill>
              </a:rPr>
              <a:t>）。當新 </a:t>
            </a:r>
            <a:r>
              <a:rPr lang="en-US" altLang="zh-TW" sz="1600" dirty="0">
                <a:solidFill>
                  <a:schemeClr val="bg1"/>
                </a:solidFill>
              </a:rPr>
              <a:t>Token </a:t>
            </a:r>
            <a:r>
              <a:rPr lang="zh-TW" altLang="en-US" sz="1600" dirty="0">
                <a:solidFill>
                  <a:schemeClr val="bg1"/>
                </a:solidFill>
              </a:rPr>
              <a:t>出現時，會覆蓋掉窗口之外最舊的 </a:t>
            </a:r>
            <a:r>
              <a:rPr lang="en-US" altLang="zh-TW" sz="1600" dirty="0">
                <a:solidFill>
                  <a:schemeClr val="bg1"/>
                </a:solidFill>
              </a:rPr>
              <a:t>Token</a:t>
            </a:r>
            <a:r>
              <a:rPr lang="zh-TW" altLang="en-US" sz="1600" dirty="0">
                <a:solidFill>
                  <a:schemeClr val="bg1"/>
                </a:solidFill>
              </a:rPr>
              <a:t>。</a:t>
            </a:r>
            <a:endParaRPr lang="en-US" altLang="zh-TW" sz="1600" dirty="0">
              <a:solidFill>
                <a:schemeClr val="bg1"/>
              </a:solidFill>
            </a:endParaRPr>
          </a:p>
        </p:txBody>
      </p:sp>
      <p:pic>
        <p:nvPicPr>
          <p:cNvPr id="1026" name="Picture 2" descr="Sliding Window Attention: Longformer Explained with Animations and PyTorch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58" y="3648844"/>
            <a:ext cx="10342335" cy="240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451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大小計算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16</a:t>
            </a:fld>
            <a:endParaRPr lang="en-US" altLang="zh-TW" dirty="0"/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Sliding Window Attention </a:t>
            </a:r>
            <a:r>
              <a:rPr lang="zh-TW" altLang="en-US" dirty="0">
                <a:solidFill>
                  <a:schemeClr val="bg1"/>
                </a:solidFill>
              </a:rPr>
              <a:t>的優勢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A. </a:t>
            </a:r>
            <a:r>
              <a:rPr lang="zh-TW" altLang="en-US" dirty="0">
                <a:solidFill>
                  <a:schemeClr val="bg1"/>
                </a:solidFill>
              </a:rPr>
              <a:t>記憶體效率 </a:t>
            </a:r>
            <a:r>
              <a:rPr lang="en-US" altLang="zh-TW" dirty="0">
                <a:solidFill>
                  <a:schemeClr val="bg1"/>
                </a:solidFill>
              </a:rPr>
              <a:t>(Memory Efficiency)</a:t>
            </a:r>
            <a:r>
              <a:rPr lang="zh-TW" altLang="en-US" dirty="0">
                <a:solidFill>
                  <a:schemeClr val="bg1"/>
                </a:solidFill>
              </a:rPr>
              <a:t>這是最直觀的好處。無論 </a:t>
            </a:r>
            <a:r>
              <a:rPr lang="en-US" altLang="zh-TW" dirty="0">
                <a:solidFill>
                  <a:schemeClr val="bg1"/>
                </a:solidFill>
              </a:rPr>
              <a:t>Prompt </a:t>
            </a:r>
            <a:r>
              <a:rPr lang="zh-TW" altLang="en-US" dirty="0">
                <a:solidFill>
                  <a:schemeClr val="bg1"/>
                </a:solidFill>
              </a:rPr>
              <a:t>有多長（例如 </a:t>
            </a:r>
            <a:r>
              <a:rPr lang="en-US" altLang="zh-TW" dirty="0">
                <a:solidFill>
                  <a:schemeClr val="bg1"/>
                </a:solidFill>
              </a:rPr>
              <a:t>100k </a:t>
            </a:r>
            <a:r>
              <a:rPr lang="zh-TW" altLang="en-US" dirty="0">
                <a:solidFill>
                  <a:schemeClr val="bg1"/>
                </a:solidFill>
              </a:rPr>
              <a:t>個 </a:t>
            </a:r>
            <a:r>
              <a:rPr lang="en-US" altLang="zh-TW" dirty="0">
                <a:solidFill>
                  <a:schemeClr val="bg1"/>
                </a:solidFill>
              </a:rPr>
              <a:t>Token</a:t>
            </a:r>
            <a:r>
              <a:rPr lang="zh-TW" altLang="en-US" dirty="0">
                <a:solidFill>
                  <a:schemeClr val="bg1"/>
                </a:solidFill>
              </a:rPr>
              <a:t>），</a:t>
            </a:r>
            <a:r>
              <a:rPr lang="en-US" altLang="zh-TW" dirty="0">
                <a:solidFill>
                  <a:schemeClr val="bg1"/>
                </a:solidFill>
              </a:rPr>
              <a:t>KV Cache </a:t>
            </a:r>
            <a:r>
              <a:rPr lang="zh-TW" altLang="en-US" dirty="0">
                <a:solidFill>
                  <a:schemeClr val="bg1"/>
                </a:solidFill>
              </a:rPr>
              <a:t>的大小始終固定在 </a:t>
            </a:r>
            <a:r>
              <a:rPr lang="en-US" altLang="zh-TW" dirty="0">
                <a:solidFill>
                  <a:schemeClr val="bg1"/>
                </a:solidFill>
              </a:rPr>
              <a:t>W</a:t>
            </a:r>
            <a:r>
              <a:rPr lang="zh-TW" altLang="en-US" dirty="0">
                <a:solidFill>
                  <a:schemeClr val="bg1"/>
                </a:solidFill>
              </a:rPr>
              <a:t>。這讓模型能夠在有限的硬體上處理極長的對話。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B. </a:t>
            </a:r>
            <a:r>
              <a:rPr lang="zh-TW" altLang="en-US" dirty="0">
                <a:solidFill>
                  <a:schemeClr val="bg1"/>
                </a:solidFill>
              </a:rPr>
              <a:t>計算加速 </a:t>
            </a:r>
            <a:r>
              <a:rPr lang="en-US" altLang="zh-TW" dirty="0">
                <a:solidFill>
                  <a:schemeClr val="bg1"/>
                </a:solidFill>
              </a:rPr>
              <a:t>(Computational Speed)</a:t>
            </a:r>
            <a:r>
              <a:rPr lang="zh-TW" altLang="en-US" dirty="0">
                <a:solidFill>
                  <a:schemeClr val="bg1"/>
                </a:solidFill>
              </a:rPr>
              <a:t>減少了 </a:t>
            </a:r>
            <a:r>
              <a:rPr lang="en-US" altLang="zh-TW" dirty="0">
                <a:solidFill>
                  <a:schemeClr val="bg1"/>
                </a:solidFill>
              </a:rPr>
              <a:t>Attention Matrix </a:t>
            </a:r>
            <a:r>
              <a:rPr lang="zh-TW" altLang="en-US" dirty="0">
                <a:solidFill>
                  <a:schemeClr val="bg1"/>
                </a:solidFill>
              </a:rPr>
              <a:t>的計算量。標準 </a:t>
            </a:r>
            <a:r>
              <a:rPr lang="en-US" altLang="zh-TW" dirty="0">
                <a:solidFill>
                  <a:schemeClr val="bg1"/>
                </a:solidFill>
              </a:rPr>
              <a:t>Attention </a:t>
            </a:r>
            <a:r>
              <a:rPr lang="zh-TW" altLang="en-US" dirty="0">
                <a:solidFill>
                  <a:schemeClr val="bg1"/>
                </a:solidFill>
              </a:rPr>
              <a:t>是 </a:t>
            </a:r>
            <a:r>
              <a:rPr lang="en-US" altLang="zh-TW" dirty="0">
                <a:solidFill>
                  <a:schemeClr val="bg1"/>
                </a:solidFill>
              </a:rPr>
              <a:t>O(N^2) </a:t>
            </a:r>
            <a:r>
              <a:rPr lang="zh-TW" altLang="en-US" dirty="0">
                <a:solidFill>
                  <a:schemeClr val="bg1"/>
                </a:solidFill>
              </a:rPr>
              <a:t>的複雜度，而 </a:t>
            </a:r>
            <a:r>
              <a:rPr lang="en-US" altLang="zh-TW" dirty="0">
                <a:solidFill>
                  <a:schemeClr val="bg1"/>
                </a:solidFill>
              </a:rPr>
              <a:t>SWA </a:t>
            </a:r>
            <a:r>
              <a:rPr lang="zh-TW" altLang="en-US" dirty="0">
                <a:solidFill>
                  <a:schemeClr val="bg1"/>
                </a:solidFill>
              </a:rPr>
              <a:t>將其降到了 </a:t>
            </a:r>
            <a:r>
              <a:rPr lang="en-US" altLang="zh-TW" dirty="0">
                <a:solidFill>
                  <a:schemeClr val="bg1"/>
                </a:solidFill>
              </a:rPr>
              <a:t>O(N * W)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  <a:endParaRPr lang="en-US" altLang="zh-TW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929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大小計算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17</a:t>
            </a:fld>
            <a:endParaRPr lang="en-US" altLang="zh-TW" dirty="0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49764" y="4941393"/>
            <a:ext cx="6133322" cy="1213293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>
                <a:solidFill>
                  <a:schemeClr val="bg1"/>
                </a:solidFill>
              </a:rPr>
              <a:t>GPT-OSS-120B 16K token length</a:t>
            </a:r>
            <a:r>
              <a:rPr lang="zh-TW" altLang="en-US" sz="2000" dirty="0">
                <a:solidFill>
                  <a:schemeClr val="bg1"/>
                </a:solidFill>
              </a:rPr>
              <a:t>為例</a:t>
            </a:r>
            <a:endParaRPr lang="en-US" altLang="zh-TW" sz="2000" dirty="0">
              <a:solidFill>
                <a:schemeClr val="bg1"/>
              </a:solidFill>
            </a:endParaRPr>
          </a:p>
          <a:p>
            <a:r>
              <a:rPr lang="en-US" altLang="zh-TW" sz="2000" dirty="0">
                <a:solidFill>
                  <a:schemeClr val="bg1"/>
                </a:solidFill>
              </a:rPr>
              <a:t>2 *128 * 2 * 18 * 8 * 2880 / 64 = 3.2 MB</a:t>
            </a:r>
          </a:p>
          <a:p>
            <a:r>
              <a:rPr lang="en-US" altLang="zh-TW" sz="2000" dirty="0">
                <a:solidFill>
                  <a:schemeClr val="bg1"/>
                </a:solidFill>
              </a:rPr>
              <a:t>2 *16K * 2 * 18 * 8 * 2880 / 64 = 0.39 GB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635841" y="1447295"/>
            <a:ext cx="3851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SWA model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701" y="156023"/>
            <a:ext cx="5829332" cy="637712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37" y="1992240"/>
            <a:ext cx="5702008" cy="274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64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大小計算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18</a:t>
            </a:fld>
            <a:endParaRPr lang="en-US" altLang="zh-TW" dirty="0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49764" y="4941393"/>
            <a:ext cx="6133322" cy="1213293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>
                <a:solidFill>
                  <a:schemeClr val="bg1"/>
                </a:solidFill>
              </a:rPr>
              <a:t>GPT-OSS-120B 16K token length</a:t>
            </a:r>
            <a:r>
              <a:rPr lang="zh-TW" altLang="en-US" sz="2000" dirty="0">
                <a:solidFill>
                  <a:schemeClr val="bg1"/>
                </a:solidFill>
              </a:rPr>
              <a:t>為例</a:t>
            </a:r>
            <a:endParaRPr lang="en-US" altLang="zh-TW" sz="2000" dirty="0">
              <a:solidFill>
                <a:schemeClr val="bg1"/>
              </a:solidFill>
            </a:endParaRPr>
          </a:p>
          <a:p>
            <a:r>
              <a:rPr lang="en-US" altLang="zh-TW" sz="2000" dirty="0">
                <a:solidFill>
                  <a:schemeClr val="bg1"/>
                </a:solidFill>
              </a:rPr>
              <a:t>2 *128 * 2 * 18 * 8 * 2880 / 64 = 3.2 MB</a:t>
            </a:r>
          </a:p>
          <a:p>
            <a:r>
              <a:rPr lang="en-US" altLang="zh-TW" sz="2000" dirty="0">
                <a:solidFill>
                  <a:schemeClr val="bg1"/>
                </a:solidFill>
              </a:rPr>
              <a:t>2 *16K * 2 * 18 * 8 * 2880 / 64 = 0.39 GB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635841" y="1447295"/>
            <a:ext cx="3851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SWA model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37" y="1992240"/>
            <a:ext cx="5702008" cy="2749317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711" y="478695"/>
            <a:ext cx="2606933" cy="54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04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管理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19</a:t>
            </a:fld>
            <a:endParaRPr lang="en-US" altLang="zh-TW" dirty="0"/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Paged Attention</a:t>
            </a:r>
          </a:p>
          <a:p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78" y="1893271"/>
            <a:ext cx="10192065" cy="402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26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管理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20</a:t>
            </a:fld>
            <a:endParaRPr lang="en-US" altLang="zh-TW" dirty="0"/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Paged Attention</a:t>
            </a:r>
          </a:p>
          <a:p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54" y="1740686"/>
            <a:ext cx="11103973" cy="441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6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管理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21</a:t>
            </a:fld>
            <a:endParaRPr lang="en-US" altLang="zh-TW" dirty="0"/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Paged Attention</a:t>
            </a:r>
          </a:p>
          <a:p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54" y="1740686"/>
            <a:ext cx="11103974" cy="453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74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管理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22</a:t>
            </a:fld>
            <a:endParaRPr lang="en-US" altLang="zh-TW" dirty="0"/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Paged Attention</a:t>
            </a:r>
          </a:p>
          <a:p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53" y="1740686"/>
            <a:ext cx="11025560" cy="442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44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管理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23</a:t>
            </a:fld>
            <a:endParaRPr lang="en-US" altLang="zh-TW" dirty="0"/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Trie (Prefix Caching)</a:t>
            </a:r>
            <a:r>
              <a:rPr lang="zh-TW" altLang="en-US" dirty="0">
                <a:solidFill>
                  <a:schemeClr val="bg1"/>
                </a:solidFill>
              </a:rPr>
              <a:t>字典樹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在 </a:t>
            </a:r>
            <a:r>
              <a:rPr lang="en-US" altLang="zh-TW" dirty="0">
                <a:solidFill>
                  <a:schemeClr val="bg1"/>
                </a:solidFill>
              </a:rPr>
              <a:t>LLM </a:t>
            </a:r>
            <a:r>
              <a:rPr lang="zh-TW" altLang="en-US" dirty="0">
                <a:solidFill>
                  <a:schemeClr val="bg1"/>
                </a:solidFill>
              </a:rPr>
              <a:t>推論中通常與 </a:t>
            </a:r>
            <a:r>
              <a:rPr lang="en-US" altLang="zh-TW" dirty="0">
                <a:solidFill>
                  <a:schemeClr val="bg1"/>
                </a:solidFill>
              </a:rPr>
              <a:t>Prefix Caching </a:t>
            </a:r>
            <a:r>
              <a:rPr lang="zh-TW" altLang="en-US" dirty="0">
                <a:solidFill>
                  <a:schemeClr val="bg1"/>
                </a:solidFill>
              </a:rPr>
              <a:t>結合使用，專門對付「重複的 </a:t>
            </a:r>
            <a:r>
              <a:rPr lang="en-US" altLang="zh-TW" dirty="0">
                <a:solidFill>
                  <a:schemeClr val="bg1"/>
                </a:solidFill>
              </a:rPr>
              <a:t>Prompt</a:t>
            </a:r>
            <a:r>
              <a:rPr lang="zh-TW" altLang="en-US" dirty="0">
                <a:solidFill>
                  <a:schemeClr val="bg1"/>
                </a:solidFill>
              </a:rPr>
              <a:t>」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endParaRPr lang="en-US" altLang="zh-TW" dirty="0">
              <a:solidFill>
                <a:schemeClr val="bg1"/>
              </a:solidFill>
            </a:endParaRPr>
          </a:p>
          <a:p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4098" name="Picture 2" descr="https://upload.wikimedia.org/wikipedia/commons/thumb/b/be/Trie_example.svg/250px-Trie_exampl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282" y="2350475"/>
            <a:ext cx="4047032" cy="380421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934965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管理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24</a:t>
            </a:fld>
            <a:endParaRPr lang="en-US" altLang="zh-TW" dirty="0"/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Trie </a:t>
            </a:r>
            <a:r>
              <a:rPr lang="zh-TW" altLang="en-US" dirty="0">
                <a:solidFill>
                  <a:schemeClr val="bg1"/>
                </a:solidFill>
              </a:rPr>
              <a:t>運作原理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系統在後台維護一棵 </a:t>
            </a:r>
            <a:r>
              <a:rPr lang="en-US" altLang="zh-TW" dirty="0">
                <a:solidFill>
                  <a:schemeClr val="bg1"/>
                </a:solidFill>
              </a:rPr>
              <a:t>Trie </a:t>
            </a:r>
            <a:r>
              <a:rPr lang="zh-TW" altLang="en-US" dirty="0">
                <a:solidFill>
                  <a:schemeClr val="bg1"/>
                </a:solidFill>
              </a:rPr>
              <a:t>樹結構：</a:t>
            </a:r>
            <a:endParaRPr lang="en-US" altLang="zh-TW" dirty="0">
              <a:solidFill>
                <a:schemeClr val="bg1"/>
              </a:solidFill>
            </a:endParaRPr>
          </a:p>
          <a:p>
            <a:pPr lvl="2"/>
            <a:r>
              <a:rPr lang="zh-TW" altLang="en-US" dirty="0">
                <a:solidFill>
                  <a:schemeClr val="bg1"/>
                </a:solidFill>
              </a:rPr>
              <a:t>節點 </a:t>
            </a:r>
            <a:r>
              <a:rPr lang="en-US" altLang="zh-TW" dirty="0">
                <a:solidFill>
                  <a:schemeClr val="bg1"/>
                </a:solidFill>
              </a:rPr>
              <a:t>(Nodes)</a:t>
            </a:r>
            <a:r>
              <a:rPr lang="zh-TW" altLang="en-US" dirty="0">
                <a:solidFill>
                  <a:schemeClr val="bg1"/>
                </a:solidFill>
              </a:rPr>
              <a:t>： 代表一段 </a:t>
            </a:r>
            <a:r>
              <a:rPr lang="en-US" altLang="zh-TW" dirty="0">
                <a:solidFill>
                  <a:schemeClr val="bg1"/>
                </a:solidFill>
              </a:rPr>
              <a:t>Token </a:t>
            </a:r>
            <a:r>
              <a:rPr lang="zh-TW" altLang="en-US" dirty="0">
                <a:solidFill>
                  <a:schemeClr val="bg1"/>
                </a:solidFill>
              </a:rPr>
              <a:t>序列（及其對應的 </a:t>
            </a:r>
            <a:r>
              <a:rPr lang="en-US" altLang="zh-TW" dirty="0">
                <a:solidFill>
                  <a:schemeClr val="bg1"/>
                </a:solidFill>
              </a:rPr>
              <a:t>KV Cache Block</a:t>
            </a:r>
            <a:r>
              <a:rPr lang="zh-TW" altLang="en-US" dirty="0">
                <a:solidFill>
                  <a:schemeClr val="bg1"/>
                </a:solidFill>
              </a:rPr>
              <a:t>）。</a:t>
            </a:r>
            <a:endParaRPr lang="en-US" altLang="zh-TW" dirty="0">
              <a:solidFill>
                <a:schemeClr val="bg1"/>
              </a:solidFill>
            </a:endParaRPr>
          </a:p>
          <a:p>
            <a:pPr lvl="2"/>
            <a:r>
              <a:rPr lang="zh-TW" altLang="en-US" dirty="0">
                <a:solidFill>
                  <a:schemeClr val="bg1"/>
                </a:solidFill>
              </a:rPr>
              <a:t>路徑 </a:t>
            </a:r>
            <a:r>
              <a:rPr lang="en-US" altLang="zh-TW" dirty="0">
                <a:solidFill>
                  <a:schemeClr val="bg1"/>
                </a:solidFill>
              </a:rPr>
              <a:t>(Paths)</a:t>
            </a:r>
            <a:r>
              <a:rPr lang="zh-TW" altLang="en-US" dirty="0">
                <a:solidFill>
                  <a:schemeClr val="bg1"/>
                </a:solidFill>
              </a:rPr>
              <a:t>： 代表完整的 </a:t>
            </a:r>
            <a:r>
              <a:rPr lang="en-US" altLang="zh-TW" dirty="0">
                <a:solidFill>
                  <a:schemeClr val="bg1"/>
                </a:solidFill>
              </a:rPr>
              <a:t>Prompt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當新的請求進來時：</a:t>
            </a:r>
            <a:endParaRPr lang="en-US" altLang="zh-TW" dirty="0">
              <a:solidFill>
                <a:schemeClr val="bg1"/>
              </a:solidFill>
            </a:endParaRPr>
          </a:p>
          <a:p>
            <a:pPr lvl="2"/>
            <a:r>
              <a:rPr lang="en-US" altLang="zh-TW" dirty="0">
                <a:solidFill>
                  <a:schemeClr val="bg1"/>
                </a:solidFill>
              </a:rPr>
              <a:t>Prefix Matching</a:t>
            </a:r>
            <a:r>
              <a:rPr lang="zh-TW" altLang="en-US" dirty="0">
                <a:solidFill>
                  <a:schemeClr val="bg1"/>
                </a:solidFill>
              </a:rPr>
              <a:t>： 系統先在 </a:t>
            </a:r>
            <a:r>
              <a:rPr lang="en-US" altLang="zh-TW" dirty="0">
                <a:solidFill>
                  <a:schemeClr val="bg1"/>
                </a:solidFill>
              </a:rPr>
              <a:t>Trie </a:t>
            </a:r>
            <a:r>
              <a:rPr lang="zh-TW" altLang="en-US" dirty="0">
                <a:solidFill>
                  <a:schemeClr val="bg1"/>
                </a:solidFill>
              </a:rPr>
              <a:t>樹中搜尋，看目前的 </a:t>
            </a:r>
            <a:r>
              <a:rPr lang="en-US" altLang="zh-TW" dirty="0">
                <a:solidFill>
                  <a:schemeClr val="bg1"/>
                </a:solidFill>
              </a:rPr>
              <a:t>Prompt </a:t>
            </a:r>
            <a:r>
              <a:rPr lang="zh-TW" altLang="en-US" dirty="0">
                <a:solidFill>
                  <a:schemeClr val="bg1"/>
                </a:solidFill>
              </a:rPr>
              <a:t>是否有部分已存在於樹中。</a:t>
            </a:r>
            <a:endParaRPr lang="en-US" altLang="zh-TW" dirty="0">
              <a:solidFill>
                <a:schemeClr val="bg1"/>
              </a:solidFill>
            </a:endParaRPr>
          </a:p>
          <a:p>
            <a:pPr lvl="3"/>
            <a:r>
              <a:rPr lang="en-US" altLang="zh-TW" dirty="0">
                <a:solidFill>
                  <a:schemeClr val="bg1"/>
                </a:solidFill>
              </a:rPr>
              <a:t>Hit (</a:t>
            </a:r>
            <a:r>
              <a:rPr lang="zh-TW" altLang="en-US" dirty="0">
                <a:solidFill>
                  <a:schemeClr val="bg1"/>
                </a:solidFill>
              </a:rPr>
              <a:t>命中</a:t>
            </a:r>
            <a:r>
              <a:rPr lang="en-US" altLang="zh-TW" dirty="0">
                <a:solidFill>
                  <a:schemeClr val="bg1"/>
                </a:solidFill>
              </a:rPr>
              <a:t>)</a:t>
            </a:r>
            <a:r>
              <a:rPr lang="zh-TW" altLang="en-US" dirty="0">
                <a:solidFill>
                  <a:schemeClr val="bg1"/>
                </a:solidFill>
              </a:rPr>
              <a:t>： 直接從顯存中讀取已有的 </a:t>
            </a:r>
            <a:r>
              <a:rPr lang="en-US" altLang="zh-TW" dirty="0">
                <a:solidFill>
                  <a:schemeClr val="bg1"/>
                </a:solidFill>
              </a:rPr>
              <a:t>KV Cache</a:t>
            </a:r>
            <a:r>
              <a:rPr lang="zh-TW" altLang="en-US" dirty="0">
                <a:solidFill>
                  <a:schemeClr val="bg1"/>
                </a:solidFill>
              </a:rPr>
              <a:t>，跳過 </a:t>
            </a:r>
            <a:r>
              <a:rPr lang="en-US" altLang="zh-TW" dirty="0">
                <a:solidFill>
                  <a:schemeClr val="bg1"/>
                </a:solidFill>
              </a:rPr>
              <a:t>Prefill </a:t>
            </a:r>
            <a:r>
              <a:rPr lang="zh-TW" altLang="en-US" dirty="0">
                <a:solidFill>
                  <a:schemeClr val="bg1"/>
                </a:solidFill>
              </a:rPr>
              <a:t>階段的計算。</a:t>
            </a:r>
            <a:endParaRPr lang="en-US" altLang="zh-TW" dirty="0">
              <a:solidFill>
                <a:schemeClr val="bg1"/>
              </a:solidFill>
            </a:endParaRPr>
          </a:p>
          <a:p>
            <a:pPr lvl="3"/>
            <a:r>
              <a:rPr lang="en-US" altLang="zh-TW" dirty="0">
                <a:solidFill>
                  <a:schemeClr val="bg1"/>
                </a:solidFill>
              </a:rPr>
              <a:t>Miss (</a:t>
            </a:r>
            <a:r>
              <a:rPr lang="zh-TW" altLang="en-US" dirty="0">
                <a:solidFill>
                  <a:schemeClr val="bg1"/>
                </a:solidFill>
              </a:rPr>
              <a:t>未命中</a:t>
            </a:r>
            <a:r>
              <a:rPr lang="en-US" altLang="zh-TW" dirty="0">
                <a:solidFill>
                  <a:schemeClr val="bg1"/>
                </a:solidFill>
              </a:rPr>
              <a:t>)</a:t>
            </a:r>
            <a:r>
              <a:rPr lang="zh-TW" altLang="en-US" dirty="0">
                <a:solidFill>
                  <a:schemeClr val="bg1"/>
                </a:solidFill>
              </a:rPr>
              <a:t>： 僅計算剩餘的新 </a:t>
            </a:r>
            <a:r>
              <a:rPr lang="en-US" altLang="zh-TW" dirty="0">
                <a:solidFill>
                  <a:schemeClr val="bg1"/>
                </a:solidFill>
              </a:rPr>
              <a:t>Token</a:t>
            </a:r>
            <a:r>
              <a:rPr lang="zh-TW" altLang="en-US" dirty="0">
                <a:solidFill>
                  <a:schemeClr val="bg1"/>
                </a:solidFill>
              </a:rPr>
              <a:t>，並將結果存回 </a:t>
            </a:r>
            <a:r>
              <a:rPr lang="en-US" altLang="zh-TW" dirty="0">
                <a:solidFill>
                  <a:schemeClr val="bg1"/>
                </a:solidFill>
              </a:rPr>
              <a:t>Trie </a:t>
            </a:r>
            <a:r>
              <a:rPr lang="zh-TW" altLang="en-US" dirty="0">
                <a:solidFill>
                  <a:schemeClr val="bg1"/>
                </a:solidFill>
              </a:rPr>
              <a:t>的新分支中。</a:t>
            </a:r>
            <a:endParaRPr lang="en-US" altLang="zh-TW" i="1" dirty="0">
              <a:solidFill>
                <a:schemeClr val="bg1"/>
              </a:solidFill>
            </a:endParaRPr>
          </a:p>
          <a:p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750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 管理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25</a:t>
            </a:fld>
            <a:endParaRPr lang="en-US" altLang="zh-TW" dirty="0"/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Paged attention &amp; Trie </a:t>
            </a:r>
            <a:r>
              <a:rPr lang="zh-TW" altLang="en-US" dirty="0">
                <a:solidFill>
                  <a:schemeClr val="bg1"/>
                </a:solidFill>
              </a:rPr>
              <a:t>之間關係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Paged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Attention </a:t>
            </a:r>
            <a:r>
              <a:rPr lang="zh-TW" altLang="en-US" dirty="0">
                <a:solidFill>
                  <a:schemeClr val="bg1"/>
                </a:solidFill>
              </a:rPr>
              <a:t>是「地基」： 它決定了顯存如何被切分與管理。</a:t>
            </a: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Trie </a:t>
            </a:r>
            <a:r>
              <a:rPr lang="zh-TW" altLang="en-US" dirty="0">
                <a:solidFill>
                  <a:schemeClr val="bg1"/>
                </a:solidFill>
              </a:rPr>
              <a:t>是「調度策略」： 它決定了哪些 </a:t>
            </a:r>
            <a:r>
              <a:rPr lang="en-US" altLang="zh-TW" dirty="0">
                <a:solidFill>
                  <a:schemeClr val="bg1"/>
                </a:solidFill>
              </a:rPr>
              <a:t>Paged Block </a:t>
            </a:r>
            <a:r>
              <a:rPr lang="zh-TW" altLang="en-US" dirty="0">
                <a:solidFill>
                  <a:schemeClr val="bg1"/>
                </a:solidFill>
              </a:rPr>
              <a:t>可以被不同請求拿來「重複利用」。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60" y="3042481"/>
            <a:ext cx="8358835" cy="311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86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90EA-D4AD-40BE-9EA5-7363600B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 cache</a:t>
            </a:r>
            <a:r>
              <a:rPr lang="zh-TW" altLang="en-US" dirty="0"/>
              <a:t> 應用</a:t>
            </a:r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89028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(Retrieval-Augmented Generation)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27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LLM</a:t>
            </a:r>
            <a:r>
              <a:rPr lang="zh-TW" altLang="en-US" dirty="0">
                <a:solidFill>
                  <a:schemeClr val="bg1"/>
                </a:solidFill>
              </a:rPr>
              <a:t>相關應用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/>
          <a:srcRect l="59132" t="10881"/>
          <a:stretch/>
        </p:blipFill>
        <p:spPr>
          <a:xfrm>
            <a:off x="6945806" y="2301139"/>
            <a:ext cx="3963377" cy="356569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t="16456" r="57675" b="5598"/>
          <a:stretch/>
        </p:blipFill>
        <p:spPr>
          <a:xfrm>
            <a:off x="1502341" y="2464641"/>
            <a:ext cx="4104707" cy="3118649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930924" y="5682165"/>
            <a:ext cx="140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智能客服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8436500" y="5897224"/>
            <a:ext cx="140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QA</a:t>
            </a:r>
            <a:r>
              <a:rPr lang="zh-TW" altLang="en-US" dirty="0">
                <a:solidFill>
                  <a:schemeClr val="bg1"/>
                </a:solidFill>
              </a:rPr>
              <a:t> 知識庫</a:t>
            </a:r>
          </a:p>
        </p:txBody>
      </p:sp>
    </p:spTree>
    <p:extLst>
      <p:ext uri="{BB962C8B-B14F-4D97-AF65-F5344CB8AC3E}">
        <p14:creationId xmlns:p14="http://schemas.microsoft.com/office/powerpoint/2010/main" val="3983896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(Retrieval-Augmented Generation)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28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檢索增強生成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是目前企業端落地大語言模型（</a:t>
            </a:r>
            <a:r>
              <a:rPr lang="en-US" altLang="zh-TW" dirty="0">
                <a:solidFill>
                  <a:schemeClr val="bg1"/>
                </a:solidFill>
              </a:rPr>
              <a:t>LLM</a:t>
            </a:r>
            <a:r>
              <a:rPr lang="zh-TW" altLang="en-US" dirty="0">
                <a:solidFill>
                  <a:schemeClr val="bg1"/>
                </a:solidFill>
              </a:rPr>
              <a:t>）最主流的技術架構。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可以想像它是給 </a:t>
            </a:r>
            <a:r>
              <a:rPr lang="en-US" altLang="zh-TW" dirty="0">
                <a:solidFill>
                  <a:schemeClr val="bg1"/>
                </a:solidFill>
              </a:rPr>
              <a:t>AI </a:t>
            </a:r>
            <a:r>
              <a:rPr lang="zh-TW" altLang="en-US" dirty="0">
                <a:solidFill>
                  <a:schemeClr val="bg1"/>
                </a:solidFill>
              </a:rPr>
              <a:t>一本「參考書」，讓它在回答問題前先翻書，以解決 </a:t>
            </a:r>
            <a:r>
              <a:rPr lang="en-US" altLang="zh-TW" dirty="0">
                <a:solidFill>
                  <a:schemeClr val="bg1"/>
                </a:solidFill>
              </a:rPr>
              <a:t>AI </a:t>
            </a:r>
            <a:r>
              <a:rPr lang="zh-TW" altLang="en-US" dirty="0">
                <a:solidFill>
                  <a:schemeClr val="bg1"/>
                </a:solidFill>
              </a:rPr>
              <a:t>容易「一本正經胡說八道」（幻覺）以及知識過期的問題。</a:t>
            </a:r>
          </a:p>
        </p:txBody>
      </p:sp>
    </p:spTree>
    <p:extLst>
      <p:ext uri="{BB962C8B-B14F-4D97-AF65-F5344CB8AC3E}">
        <p14:creationId xmlns:p14="http://schemas.microsoft.com/office/powerpoint/2010/main" val="3580862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29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1. </a:t>
            </a:r>
            <a:r>
              <a:rPr lang="zh-TW" altLang="en-US" dirty="0">
                <a:solidFill>
                  <a:schemeClr val="bg1"/>
                </a:solidFill>
              </a:rPr>
              <a:t>資料準備 </a:t>
            </a:r>
            <a:r>
              <a:rPr lang="en-US" altLang="zh-TW" dirty="0">
                <a:solidFill>
                  <a:schemeClr val="bg1"/>
                </a:solidFill>
              </a:rPr>
              <a:t>(Indexing)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將私有文件（</a:t>
            </a:r>
            <a:r>
              <a:rPr lang="en-US" altLang="zh-TW" dirty="0">
                <a:solidFill>
                  <a:schemeClr val="bg1"/>
                </a:solidFill>
              </a:rPr>
              <a:t>PDF, Word, Notion </a:t>
            </a:r>
            <a:r>
              <a:rPr lang="zh-TW" altLang="en-US" dirty="0">
                <a:solidFill>
                  <a:schemeClr val="bg1"/>
                </a:solidFill>
              </a:rPr>
              <a:t>等）切成小塊（</a:t>
            </a:r>
            <a:r>
              <a:rPr lang="en-US" altLang="zh-TW" dirty="0">
                <a:solidFill>
                  <a:schemeClr val="bg1"/>
                </a:solidFill>
              </a:rPr>
              <a:t>Chunks</a:t>
            </a:r>
            <a:r>
              <a:rPr lang="zh-TW" altLang="en-US" dirty="0">
                <a:solidFill>
                  <a:schemeClr val="bg1"/>
                </a:solidFill>
              </a:rPr>
              <a:t>）。</a:t>
            </a:r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815" y="2211765"/>
            <a:ext cx="7766814" cy="413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14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30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1. </a:t>
            </a:r>
            <a:r>
              <a:rPr lang="zh-TW" altLang="en-US" dirty="0">
                <a:solidFill>
                  <a:schemeClr val="bg1"/>
                </a:solidFill>
              </a:rPr>
              <a:t>資料準備 </a:t>
            </a:r>
            <a:r>
              <a:rPr lang="en-US" altLang="zh-TW" dirty="0">
                <a:solidFill>
                  <a:schemeClr val="bg1"/>
                </a:solidFill>
              </a:rPr>
              <a:t>(Indexing)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將私有文件（</a:t>
            </a:r>
            <a:r>
              <a:rPr lang="en-US" altLang="zh-TW" dirty="0">
                <a:solidFill>
                  <a:schemeClr val="bg1"/>
                </a:solidFill>
              </a:rPr>
              <a:t>PDF, Word, Notion </a:t>
            </a:r>
            <a:r>
              <a:rPr lang="zh-TW" altLang="en-US" dirty="0">
                <a:solidFill>
                  <a:schemeClr val="bg1"/>
                </a:solidFill>
              </a:rPr>
              <a:t>等）切成小塊（</a:t>
            </a:r>
            <a:r>
              <a:rPr lang="en-US" altLang="zh-TW" dirty="0">
                <a:solidFill>
                  <a:schemeClr val="bg1"/>
                </a:solidFill>
              </a:rPr>
              <a:t>Chunks</a:t>
            </a:r>
            <a:r>
              <a:rPr lang="zh-TW" altLang="en-US" dirty="0">
                <a:solidFill>
                  <a:schemeClr val="bg1"/>
                </a:solidFill>
              </a:rPr>
              <a:t>）。</a:t>
            </a:r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4" y="2295683"/>
            <a:ext cx="9513794" cy="397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97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31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1. </a:t>
            </a:r>
            <a:r>
              <a:rPr lang="zh-TW" altLang="en-US" dirty="0">
                <a:solidFill>
                  <a:schemeClr val="bg1"/>
                </a:solidFill>
              </a:rPr>
              <a:t>資料準備 </a:t>
            </a:r>
            <a:r>
              <a:rPr lang="en-US" altLang="zh-TW" dirty="0">
                <a:solidFill>
                  <a:schemeClr val="bg1"/>
                </a:solidFill>
              </a:rPr>
              <a:t>(Indexing)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索引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  <a:r>
              <a:rPr lang="zh-TW" altLang="en-US" dirty="0">
                <a:solidFill>
                  <a:schemeClr val="bg1"/>
                </a:solidFill>
              </a:rPr>
              <a:t> 利用 </a:t>
            </a:r>
            <a:r>
              <a:rPr lang="en-US" altLang="zh-TW" dirty="0">
                <a:solidFill>
                  <a:schemeClr val="bg1"/>
                </a:solidFill>
              </a:rPr>
              <a:t>Embedding Model </a:t>
            </a:r>
            <a:r>
              <a:rPr lang="zh-TW" altLang="en-US" dirty="0">
                <a:solidFill>
                  <a:schemeClr val="bg1"/>
                </a:solidFill>
              </a:rPr>
              <a:t>將文字轉化為向量（</a:t>
            </a:r>
            <a:r>
              <a:rPr lang="en-US" altLang="zh-TW" dirty="0">
                <a:solidFill>
                  <a:schemeClr val="bg1"/>
                </a:solidFill>
              </a:rPr>
              <a:t>Vector</a:t>
            </a:r>
            <a:r>
              <a:rPr lang="zh-TW" altLang="en-US" dirty="0">
                <a:solidFill>
                  <a:schemeClr val="bg1"/>
                </a:solidFill>
              </a:rPr>
              <a:t>）。</a:t>
            </a:r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233" y="2287477"/>
            <a:ext cx="4780131" cy="397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90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32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1. </a:t>
            </a:r>
            <a:r>
              <a:rPr lang="zh-TW" altLang="en-US" dirty="0">
                <a:solidFill>
                  <a:schemeClr val="bg1"/>
                </a:solidFill>
              </a:rPr>
              <a:t>資料準備 </a:t>
            </a:r>
            <a:r>
              <a:rPr lang="en-US" altLang="zh-TW" dirty="0">
                <a:solidFill>
                  <a:schemeClr val="bg1"/>
                </a:solidFill>
              </a:rPr>
              <a:t>(Indexing)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索引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  <a:r>
              <a:rPr lang="zh-TW" altLang="en-US" dirty="0">
                <a:solidFill>
                  <a:schemeClr val="bg1"/>
                </a:solidFill>
              </a:rPr>
              <a:t> 利用 </a:t>
            </a:r>
            <a:r>
              <a:rPr lang="en-US" altLang="zh-TW" dirty="0">
                <a:solidFill>
                  <a:schemeClr val="bg1"/>
                </a:solidFill>
              </a:rPr>
              <a:t>Embedding Model </a:t>
            </a:r>
            <a:r>
              <a:rPr lang="zh-TW" altLang="en-US" dirty="0">
                <a:solidFill>
                  <a:schemeClr val="bg1"/>
                </a:solidFill>
              </a:rPr>
              <a:t>將文字轉化為向量（</a:t>
            </a:r>
            <a:r>
              <a:rPr lang="en-US" altLang="zh-TW" dirty="0">
                <a:solidFill>
                  <a:schemeClr val="bg1"/>
                </a:solidFill>
              </a:rPr>
              <a:t>Vector</a:t>
            </a:r>
            <a:r>
              <a:rPr lang="zh-TW" altLang="en-US" dirty="0">
                <a:solidFill>
                  <a:schemeClr val="bg1"/>
                </a:solidFill>
              </a:rPr>
              <a:t>）。</a:t>
            </a:r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766" y="2263895"/>
            <a:ext cx="7927290" cy="381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50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33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1. </a:t>
            </a:r>
            <a:r>
              <a:rPr lang="zh-TW" altLang="en-US" dirty="0">
                <a:solidFill>
                  <a:schemeClr val="bg1"/>
                </a:solidFill>
              </a:rPr>
              <a:t>資料準備 </a:t>
            </a:r>
            <a:r>
              <a:rPr lang="en-US" altLang="zh-TW" dirty="0">
                <a:solidFill>
                  <a:schemeClr val="bg1"/>
                </a:solidFill>
              </a:rPr>
              <a:t>(Indexing)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索引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  <a:r>
              <a:rPr lang="zh-TW" altLang="en-US" dirty="0">
                <a:solidFill>
                  <a:schemeClr val="bg1"/>
                </a:solidFill>
              </a:rPr>
              <a:t> 存入 向量資料庫 </a:t>
            </a:r>
            <a:r>
              <a:rPr lang="en-US" altLang="zh-TW" dirty="0">
                <a:solidFill>
                  <a:schemeClr val="bg1"/>
                </a:solidFill>
              </a:rPr>
              <a:t>(Vector Database)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43" y="2422019"/>
            <a:ext cx="10396536" cy="275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93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34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1. </a:t>
            </a:r>
            <a:r>
              <a:rPr lang="zh-TW" altLang="en-US" dirty="0">
                <a:solidFill>
                  <a:schemeClr val="bg1"/>
                </a:solidFill>
              </a:rPr>
              <a:t>資料準備 </a:t>
            </a:r>
            <a:r>
              <a:rPr lang="en-US" altLang="zh-TW" dirty="0">
                <a:solidFill>
                  <a:schemeClr val="bg1"/>
                </a:solidFill>
              </a:rPr>
              <a:t>(Indexing)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索引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  <a:r>
              <a:rPr lang="zh-TW" altLang="en-US" dirty="0">
                <a:solidFill>
                  <a:schemeClr val="bg1"/>
                </a:solidFill>
              </a:rPr>
              <a:t> 存入 向量資料庫 </a:t>
            </a:r>
            <a:r>
              <a:rPr lang="en-US" altLang="zh-TW" dirty="0">
                <a:solidFill>
                  <a:schemeClr val="bg1"/>
                </a:solidFill>
              </a:rPr>
              <a:t>(Vector Database)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98" y="2231594"/>
            <a:ext cx="10161626" cy="403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3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35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2. </a:t>
            </a:r>
            <a:r>
              <a:rPr lang="zh-TW" altLang="en-US" dirty="0">
                <a:solidFill>
                  <a:schemeClr val="bg1"/>
                </a:solidFill>
              </a:rPr>
              <a:t>檢索 </a:t>
            </a:r>
            <a:r>
              <a:rPr lang="en-US" altLang="zh-TW" dirty="0">
                <a:solidFill>
                  <a:schemeClr val="bg1"/>
                </a:solidFill>
              </a:rPr>
              <a:t>(Retrieval)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當用戶提問時，系統將問題也轉化為向量。</a:t>
            </a:r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94" y="2658680"/>
            <a:ext cx="11817604" cy="213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3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36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2. </a:t>
            </a:r>
            <a:r>
              <a:rPr lang="zh-TW" altLang="en-US" dirty="0">
                <a:solidFill>
                  <a:schemeClr val="bg1"/>
                </a:solidFill>
              </a:rPr>
              <a:t>檢索 </a:t>
            </a:r>
            <a:r>
              <a:rPr lang="en-US" altLang="zh-TW" dirty="0">
                <a:solidFill>
                  <a:schemeClr val="bg1"/>
                </a:solidFill>
              </a:rPr>
              <a:t>(Retrieval)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在資料庫中比對，找出最相關的前 </a:t>
            </a:r>
            <a:r>
              <a:rPr lang="en-US" altLang="zh-TW" dirty="0">
                <a:solidFill>
                  <a:schemeClr val="bg1"/>
                </a:solidFill>
              </a:rPr>
              <a:t>k </a:t>
            </a:r>
            <a:r>
              <a:rPr lang="zh-TW" altLang="en-US" dirty="0">
                <a:solidFill>
                  <a:schemeClr val="bg1"/>
                </a:solidFill>
              </a:rPr>
              <a:t>個文字塊。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958" y="2100392"/>
            <a:ext cx="9339840" cy="421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95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37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2. </a:t>
            </a:r>
            <a:r>
              <a:rPr lang="zh-TW" altLang="en-US" dirty="0">
                <a:solidFill>
                  <a:schemeClr val="bg1"/>
                </a:solidFill>
              </a:rPr>
              <a:t>檢索 </a:t>
            </a:r>
            <a:r>
              <a:rPr lang="en-US" altLang="zh-TW" dirty="0">
                <a:solidFill>
                  <a:schemeClr val="bg1"/>
                </a:solidFill>
              </a:rPr>
              <a:t>(Retrieval)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重排 </a:t>
            </a:r>
            <a:r>
              <a:rPr lang="en-US" altLang="zh-TW" dirty="0">
                <a:solidFill>
                  <a:schemeClr val="bg1"/>
                </a:solidFill>
              </a:rPr>
              <a:t>(re-ranking):</a:t>
            </a:r>
            <a:r>
              <a:rPr lang="zh-TW" altLang="en-US" dirty="0">
                <a:solidFill>
                  <a:schemeClr val="bg1"/>
                </a:solidFill>
              </a:rPr>
              <a:t> 使用</a:t>
            </a:r>
            <a:r>
              <a:rPr lang="en-US" altLang="zh-TW" dirty="0">
                <a:solidFill>
                  <a:schemeClr val="bg1"/>
                </a:solidFill>
              </a:rPr>
              <a:t>cross-encoder</a:t>
            </a:r>
            <a:r>
              <a:rPr lang="zh-TW" altLang="en-US" dirty="0">
                <a:solidFill>
                  <a:schemeClr val="bg1"/>
                </a:solidFill>
              </a:rPr>
              <a:t>，再挑出最終</a:t>
            </a:r>
            <a:r>
              <a:rPr lang="en-US" altLang="zh-TW" dirty="0">
                <a:solidFill>
                  <a:schemeClr val="bg1"/>
                </a:solidFill>
              </a:rPr>
              <a:t>chunks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1" y="2189898"/>
            <a:ext cx="7877682" cy="396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25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38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3. </a:t>
            </a:r>
            <a:r>
              <a:rPr lang="zh-TW" altLang="en-US" dirty="0">
                <a:solidFill>
                  <a:schemeClr val="bg1"/>
                </a:solidFill>
              </a:rPr>
              <a:t>增強 </a:t>
            </a:r>
            <a:r>
              <a:rPr lang="en-US" altLang="zh-TW" dirty="0">
                <a:solidFill>
                  <a:schemeClr val="bg1"/>
                </a:solidFill>
              </a:rPr>
              <a:t>(Augmentation)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將找出來的「參考資料」與「原始問題」組合成一個超長的 </a:t>
            </a:r>
            <a:r>
              <a:rPr lang="en-US" altLang="zh-TW" dirty="0">
                <a:solidFill>
                  <a:schemeClr val="bg1"/>
                </a:solidFill>
              </a:rPr>
              <a:t>Prompt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/>
          <a:srcRect l="70971" t="49543" r="4584" b="24187"/>
          <a:stretch/>
        </p:blipFill>
        <p:spPr>
          <a:xfrm>
            <a:off x="1386739" y="2949092"/>
            <a:ext cx="1925691" cy="1041568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3770598" y="3231349"/>
            <a:ext cx="4475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>
                <a:solidFill>
                  <a:schemeClr val="bg1"/>
                </a:solidFill>
              </a:rPr>
              <a:t>+</a:t>
            </a:r>
            <a:endParaRPr lang="zh-TW" altLang="en-US" sz="2500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r="62671"/>
          <a:stretch/>
        </p:blipFill>
        <p:spPr>
          <a:xfrm>
            <a:off x="4371711" y="2579147"/>
            <a:ext cx="4411505" cy="213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81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的運作流程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39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Step 4. </a:t>
            </a:r>
            <a:r>
              <a:rPr lang="zh-TW" altLang="en-US" dirty="0">
                <a:solidFill>
                  <a:schemeClr val="bg1"/>
                </a:solidFill>
              </a:rPr>
              <a:t>生成 </a:t>
            </a:r>
            <a:r>
              <a:rPr lang="en-US" altLang="zh-TW" dirty="0">
                <a:solidFill>
                  <a:schemeClr val="bg1"/>
                </a:solidFill>
              </a:rPr>
              <a:t>(Generation)</a:t>
            </a:r>
            <a:r>
              <a:rPr lang="zh-TW" altLang="en-US" dirty="0">
                <a:solidFill>
                  <a:schemeClr val="bg1"/>
                </a:solidFill>
              </a:rPr>
              <a:t>：</a:t>
            </a: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LLM </a:t>
            </a:r>
            <a:r>
              <a:rPr lang="zh-TW" altLang="en-US" dirty="0">
                <a:solidFill>
                  <a:schemeClr val="bg1"/>
                </a:solidFill>
              </a:rPr>
              <a:t>根據這份「有據可查」的 </a:t>
            </a:r>
            <a:r>
              <a:rPr lang="en-US" altLang="zh-TW" dirty="0">
                <a:solidFill>
                  <a:schemeClr val="bg1"/>
                </a:solidFill>
              </a:rPr>
              <a:t>Prompt </a:t>
            </a:r>
            <a:r>
              <a:rPr lang="zh-TW" altLang="en-US" dirty="0">
                <a:solidFill>
                  <a:schemeClr val="bg1"/>
                </a:solidFill>
              </a:rPr>
              <a:t>產出回答。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49" y="2397853"/>
            <a:ext cx="11371586" cy="361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304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vs Fine-tune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40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Why using RAG?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11" y="1784536"/>
            <a:ext cx="10044599" cy="452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230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&amp; KV cache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41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RAG </a:t>
            </a:r>
            <a:r>
              <a:rPr lang="zh-TW" altLang="en-US" dirty="0">
                <a:solidFill>
                  <a:schemeClr val="bg1"/>
                </a:solidFill>
              </a:rPr>
              <a:t>跟 </a:t>
            </a:r>
            <a:r>
              <a:rPr lang="en-US" altLang="zh-TW" dirty="0">
                <a:solidFill>
                  <a:schemeClr val="bg1"/>
                </a:solidFill>
              </a:rPr>
              <a:t>KV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cache</a:t>
            </a:r>
            <a:r>
              <a:rPr lang="zh-TW" altLang="en-US" dirty="0">
                <a:solidFill>
                  <a:schemeClr val="bg1"/>
                </a:solidFill>
              </a:rPr>
              <a:t>之間的關係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Prefix Caching: </a:t>
            </a:r>
            <a:r>
              <a:rPr lang="zh-TW" altLang="en-US" dirty="0">
                <a:solidFill>
                  <a:schemeClr val="bg1"/>
                </a:solidFill>
              </a:rPr>
              <a:t>可以把這份文件的 </a:t>
            </a:r>
            <a:r>
              <a:rPr lang="en-US" altLang="zh-TW" dirty="0">
                <a:solidFill>
                  <a:schemeClr val="bg1"/>
                </a:solidFill>
              </a:rPr>
              <a:t>KV Cache </a:t>
            </a:r>
            <a:r>
              <a:rPr lang="zh-TW" altLang="en-US" dirty="0">
                <a:solidFill>
                  <a:schemeClr val="bg1"/>
                </a:solidFill>
              </a:rPr>
              <a:t>存起來。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效益： 模型不需要重新讀取那幾千字的參考資料，回答速度會變得飛快。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05" y="2512437"/>
            <a:ext cx="9028547" cy="375411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009961" y="2712852"/>
            <a:ext cx="1180847" cy="12899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 flipH="1">
            <a:off x="9585537" y="1181388"/>
            <a:ext cx="2606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先將所有的</a:t>
            </a:r>
            <a:r>
              <a:rPr lang="en-US" altLang="zh-TW" dirty="0">
                <a:solidFill>
                  <a:srgbClr val="FF0000"/>
                </a:solidFill>
              </a:rPr>
              <a:t>chunk</a:t>
            </a:r>
            <a:r>
              <a:rPr lang="zh-TW" altLang="en-US" dirty="0">
                <a:solidFill>
                  <a:srgbClr val="FF0000"/>
                </a:solidFill>
              </a:rPr>
              <a:t>存成</a:t>
            </a:r>
            <a:r>
              <a:rPr lang="en-US" altLang="zh-TW" dirty="0">
                <a:solidFill>
                  <a:srgbClr val="FF0000"/>
                </a:solidFill>
              </a:rPr>
              <a:t>KV cache</a:t>
            </a:r>
            <a:r>
              <a:rPr lang="zh-TW" altLang="en-US" dirty="0">
                <a:solidFill>
                  <a:srgbClr val="FF0000"/>
                </a:solidFill>
              </a:rPr>
              <a:t>寫入</a:t>
            </a:r>
            <a:r>
              <a:rPr lang="en-US" altLang="zh-TW" dirty="0">
                <a:solidFill>
                  <a:srgbClr val="FF0000"/>
                </a:solidFill>
              </a:rPr>
              <a:t>SSD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6901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RAG </a:t>
            </a:r>
            <a:r>
              <a:rPr lang="zh-TW" altLang="en-US" dirty="0"/>
              <a:t>的應用場景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42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Key: </a:t>
            </a:r>
            <a:r>
              <a:rPr lang="zh-TW" altLang="en-US" dirty="0">
                <a:solidFill>
                  <a:schemeClr val="bg1"/>
                </a:solidFill>
              </a:rPr>
              <a:t>用戶獨有的知識庫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企業內部知識庫： 員工詢問請假制度、報帳流程。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智慧客戶服務： 根據產品說明書回答客戶的技術問題。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法律</a:t>
            </a:r>
            <a:r>
              <a:rPr lang="en-US" altLang="zh-TW" dirty="0">
                <a:solidFill>
                  <a:schemeClr val="bg1"/>
                </a:solidFill>
              </a:rPr>
              <a:t>/</a:t>
            </a:r>
            <a:r>
              <a:rPr lang="zh-TW" altLang="en-US" dirty="0">
                <a:solidFill>
                  <a:schemeClr val="bg1"/>
                </a:solidFill>
              </a:rPr>
              <a:t>醫療輔助： 在龐大的法條或病歷中尋找特定案例。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個人助理： 讀取你的電子郵件或筆記來回答行程安排。</a:t>
            </a:r>
          </a:p>
        </p:txBody>
      </p:sp>
    </p:spTree>
    <p:extLst>
      <p:ext uri="{BB962C8B-B14F-4D97-AF65-F5344CB8AC3E}">
        <p14:creationId xmlns:p14="http://schemas.microsoft.com/office/powerpoint/2010/main" val="22970184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的其他應用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43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多輪對話系統 </a:t>
            </a:r>
            <a:r>
              <a:rPr lang="en-US" altLang="zh-TW" dirty="0">
                <a:solidFill>
                  <a:schemeClr val="bg1"/>
                </a:solidFill>
              </a:rPr>
              <a:t>(Multi-turn </a:t>
            </a:r>
            <a:r>
              <a:rPr lang="en-US" altLang="zh-TW" dirty="0" err="1">
                <a:solidFill>
                  <a:schemeClr val="bg1"/>
                </a:solidFill>
              </a:rPr>
              <a:t>Chatbots</a:t>
            </a:r>
            <a:r>
              <a:rPr lang="en-US" altLang="zh-TW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在長對話中，每一輪新的對話都需要包含之前的歷史記錄。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應用方式： 系統不需要在每輪對話都重新編碼（</a:t>
            </a:r>
            <a:r>
              <a:rPr lang="en-US" altLang="zh-TW" dirty="0">
                <a:solidFill>
                  <a:schemeClr val="bg1"/>
                </a:solidFill>
              </a:rPr>
              <a:t>Encoding</a:t>
            </a:r>
            <a:r>
              <a:rPr lang="zh-TW" altLang="en-US" dirty="0">
                <a:solidFill>
                  <a:schemeClr val="bg1"/>
                </a:solidFill>
              </a:rPr>
              <a:t>）整個歷史訊息。透過 </a:t>
            </a:r>
            <a:r>
              <a:rPr lang="en-US" altLang="zh-TW" dirty="0">
                <a:solidFill>
                  <a:schemeClr val="bg1"/>
                </a:solidFill>
              </a:rPr>
              <a:t>Prefix Caching</a:t>
            </a:r>
            <a:r>
              <a:rPr lang="zh-TW" altLang="en-US" dirty="0">
                <a:solidFill>
                  <a:schemeClr val="bg1"/>
                </a:solidFill>
              </a:rPr>
              <a:t>，歷史對話的 </a:t>
            </a:r>
            <a:r>
              <a:rPr lang="en-US" altLang="zh-TW" dirty="0">
                <a:solidFill>
                  <a:schemeClr val="bg1"/>
                </a:solidFill>
              </a:rPr>
              <a:t>K, V </a:t>
            </a:r>
            <a:r>
              <a:rPr lang="zh-TW" altLang="en-US" dirty="0">
                <a:solidFill>
                  <a:schemeClr val="bg1"/>
                </a:solidFill>
              </a:rPr>
              <a:t>矩陣被保存在顯存中，模型只需處理用戶剛輸入的那句話。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效益： 大幅降低 </a:t>
            </a:r>
            <a:r>
              <a:rPr lang="en-US" altLang="zh-TW" dirty="0">
                <a:solidFill>
                  <a:schemeClr val="bg1"/>
                </a:solidFill>
              </a:rPr>
              <a:t>TTFT (Time to First Token)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924" y="3649377"/>
            <a:ext cx="3905976" cy="282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110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的其他應用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44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智能代理 </a:t>
            </a:r>
            <a:r>
              <a:rPr lang="en-US" altLang="zh-TW" dirty="0">
                <a:solidFill>
                  <a:schemeClr val="bg1"/>
                </a:solidFill>
              </a:rPr>
              <a:t>(AI Agents) </a:t>
            </a:r>
            <a:r>
              <a:rPr lang="zh-TW" altLang="en-US" dirty="0">
                <a:solidFill>
                  <a:schemeClr val="bg1"/>
                </a:solidFill>
              </a:rPr>
              <a:t>與工具調用 </a:t>
            </a:r>
            <a:r>
              <a:rPr lang="en-US" altLang="zh-TW" dirty="0">
                <a:solidFill>
                  <a:schemeClr val="bg1"/>
                </a:solidFill>
              </a:rPr>
              <a:t>(Tool Use)</a:t>
            </a: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Agent </a:t>
            </a:r>
            <a:r>
              <a:rPr lang="zh-TW" altLang="en-US" dirty="0">
                <a:solidFill>
                  <a:schemeClr val="bg1"/>
                </a:solidFill>
              </a:rPr>
              <a:t>在執行任務時，通常會經歷「思考 </a:t>
            </a:r>
            <a:r>
              <a:rPr lang="en-US" altLang="zh-TW" dirty="0">
                <a:solidFill>
                  <a:schemeClr val="bg1"/>
                </a:solidFill>
              </a:rPr>
              <a:t>-&gt; </a:t>
            </a:r>
            <a:r>
              <a:rPr lang="zh-TW" altLang="en-US" dirty="0">
                <a:solidFill>
                  <a:schemeClr val="bg1"/>
                </a:solidFill>
              </a:rPr>
              <a:t>行動 </a:t>
            </a:r>
            <a:r>
              <a:rPr lang="en-US" altLang="zh-TW" dirty="0">
                <a:solidFill>
                  <a:schemeClr val="bg1"/>
                </a:solidFill>
              </a:rPr>
              <a:t>-&gt; </a:t>
            </a:r>
            <a:r>
              <a:rPr lang="zh-TW" altLang="en-US" dirty="0">
                <a:solidFill>
                  <a:schemeClr val="bg1"/>
                </a:solidFill>
              </a:rPr>
              <a:t>觀察 </a:t>
            </a:r>
            <a:r>
              <a:rPr lang="en-US" altLang="zh-TW" dirty="0">
                <a:solidFill>
                  <a:schemeClr val="bg1"/>
                </a:solidFill>
              </a:rPr>
              <a:t>-&gt; </a:t>
            </a:r>
            <a:r>
              <a:rPr lang="zh-TW" altLang="en-US" dirty="0">
                <a:solidFill>
                  <a:schemeClr val="bg1"/>
                </a:solidFill>
              </a:rPr>
              <a:t>思考」的循環。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應用方式： </a:t>
            </a:r>
            <a:r>
              <a:rPr lang="en-US" altLang="zh-TW" dirty="0">
                <a:solidFill>
                  <a:schemeClr val="bg1"/>
                </a:solidFill>
              </a:rPr>
              <a:t>Agent </a:t>
            </a:r>
            <a:r>
              <a:rPr lang="zh-TW" altLang="en-US" dirty="0">
                <a:solidFill>
                  <a:schemeClr val="bg1"/>
                </a:solidFill>
              </a:rPr>
              <a:t>的「思考鏈」（</a:t>
            </a:r>
            <a:r>
              <a:rPr lang="en-US" altLang="zh-TW" dirty="0">
                <a:solidFill>
                  <a:schemeClr val="bg1"/>
                </a:solidFill>
              </a:rPr>
              <a:t>Chain of Thought</a:t>
            </a:r>
            <a:r>
              <a:rPr lang="zh-TW" altLang="en-US" dirty="0">
                <a:solidFill>
                  <a:schemeClr val="bg1"/>
                </a:solidFill>
              </a:rPr>
              <a:t>）往往很長。</a:t>
            </a:r>
            <a:r>
              <a:rPr lang="en-US" altLang="zh-TW" dirty="0">
                <a:solidFill>
                  <a:schemeClr val="bg1"/>
                </a:solidFill>
              </a:rPr>
              <a:t>KV Cache </a:t>
            </a:r>
            <a:r>
              <a:rPr lang="zh-TW" altLang="en-US" dirty="0">
                <a:solidFill>
                  <a:schemeClr val="bg1"/>
                </a:solidFill>
              </a:rPr>
              <a:t>允許 </a:t>
            </a:r>
            <a:r>
              <a:rPr lang="en-US" altLang="zh-TW" dirty="0">
                <a:solidFill>
                  <a:schemeClr val="bg1"/>
                </a:solidFill>
              </a:rPr>
              <a:t>Agent </a:t>
            </a:r>
            <a:r>
              <a:rPr lang="zh-TW" altLang="en-US" dirty="0">
                <a:solidFill>
                  <a:schemeClr val="bg1"/>
                </a:solidFill>
              </a:rPr>
              <a:t>在多次調用外部工具（如搜尋引擎、計算機）後，依然保留之前的推理狀態，而不需要重新讀取整個任務目標。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效益： 支撐複雜任務的連續性，降低 </a:t>
            </a:r>
            <a:r>
              <a:rPr lang="en-US" altLang="zh-TW" dirty="0">
                <a:solidFill>
                  <a:schemeClr val="bg1"/>
                </a:solidFill>
              </a:rPr>
              <a:t>Agent </a:t>
            </a:r>
            <a:r>
              <a:rPr lang="zh-TW" altLang="en-US" dirty="0">
                <a:solidFill>
                  <a:schemeClr val="bg1"/>
                </a:solidFill>
              </a:rPr>
              <a:t>的運算成本。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225" y="4030586"/>
            <a:ext cx="4089127" cy="252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011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90EA-D4AD-40BE-9EA5-7363600B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 cache</a:t>
            </a:r>
            <a:r>
              <a:rPr lang="zh-TW" altLang="en-US" dirty="0"/>
              <a:t> 的挑戰</a:t>
            </a:r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37774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的挑戰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46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43001"/>
            <a:ext cx="10582901" cy="5011686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顯存黑洞 </a:t>
            </a:r>
            <a:r>
              <a:rPr lang="en-US" altLang="zh-TW" dirty="0">
                <a:solidFill>
                  <a:schemeClr val="bg1"/>
                </a:solidFill>
              </a:rPr>
              <a:t>(Memory Footprint)</a:t>
            </a: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KV cache </a:t>
            </a:r>
            <a:r>
              <a:rPr lang="zh-TW" altLang="en-US" dirty="0">
                <a:solidFill>
                  <a:schemeClr val="bg1"/>
                </a:solidFill>
              </a:rPr>
              <a:t>的大小隨序列長度 線性增長。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記憶體占用超過模型本身： 對於長文本（如 </a:t>
            </a:r>
            <a:r>
              <a:rPr lang="en-US" altLang="zh-TW" dirty="0">
                <a:solidFill>
                  <a:schemeClr val="bg1"/>
                </a:solidFill>
              </a:rPr>
              <a:t>100k tokens</a:t>
            </a:r>
            <a:r>
              <a:rPr lang="zh-TW" altLang="en-US" dirty="0">
                <a:solidFill>
                  <a:schemeClr val="bg1"/>
                </a:solidFill>
              </a:rPr>
              <a:t>），</a:t>
            </a:r>
            <a:r>
              <a:rPr lang="en-US" altLang="zh-TW" dirty="0">
                <a:solidFill>
                  <a:schemeClr val="bg1"/>
                </a:solidFill>
              </a:rPr>
              <a:t>KV cache </a:t>
            </a:r>
            <a:r>
              <a:rPr lang="zh-TW" altLang="en-US" dirty="0">
                <a:solidFill>
                  <a:schemeClr val="bg1"/>
                </a:solidFill>
              </a:rPr>
              <a:t>占用的顯存可能遠遠超過模型權重。</a:t>
            </a:r>
            <a:endParaRPr lang="en-US" altLang="zh-TW" dirty="0">
              <a:solidFill>
                <a:schemeClr val="bg1"/>
              </a:solidFill>
            </a:endParaRPr>
          </a:p>
          <a:p>
            <a:pPr lvl="2"/>
            <a:r>
              <a:rPr lang="zh-TW" altLang="en-US" dirty="0">
                <a:solidFill>
                  <a:schemeClr val="bg1"/>
                </a:solidFill>
              </a:rPr>
              <a:t>例如，一個 </a:t>
            </a:r>
            <a:r>
              <a:rPr lang="en-US" altLang="zh-TW" dirty="0">
                <a:solidFill>
                  <a:schemeClr val="bg1"/>
                </a:solidFill>
              </a:rPr>
              <a:t>70B </a:t>
            </a:r>
            <a:r>
              <a:rPr lang="zh-TW" altLang="en-US" dirty="0">
                <a:solidFill>
                  <a:schemeClr val="bg1"/>
                </a:solidFill>
              </a:rPr>
              <a:t>的模型在處理長序列時，</a:t>
            </a:r>
            <a:r>
              <a:rPr lang="en-US" altLang="zh-TW" dirty="0">
                <a:solidFill>
                  <a:schemeClr val="bg1"/>
                </a:solidFill>
              </a:rPr>
              <a:t>KV cache </a:t>
            </a:r>
            <a:r>
              <a:rPr lang="zh-TW" altLang="en-US" dirty="0">
                <a:solidFill>
                  <a:schemeClr val="bg1"/>
                </a:solidFill>
              </a:rPr>
              <a:t>可能需要數百 </a:t>
            </a:r>
            <a:r>
              <a:rPr lang="en-US" altLang="zh-TW" dirty="0">
                <a:solidFill>
                  <a:schemeClr val="bg1"/>
                </a:solidFill>
              </a:rPr>
              <a:t>GB </a:t>
            </a:r>
            <a:r>
              <a:rPr lang="zh-TW" altLang="en-US" dirty="0">
                <a:solidFill>
                  <a:schemeClr val="bg1"/>
                </a:solidFill>
              </a:rPr>
              <a:t>的顯存，這迫使企業必須購買更多、更貴的 </a:t>
            </a:r>
            <a:r>
              <a:rPr lang="en-US" altLang="zh-TW" dirty="0">
                <a:solidFill>
                  <a:schemeClr val="bg1"/>
                </a:solidFill>
              </a:rPr>
              <a:t>GPU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長度與併發的矛盾： 在顯存有限的情況下，如果你想讓單個用戶處理更長的文本，你就必須減少同時服務的用戶數（</a:t>
            </a:r>
            <a:r>
              <a:rPr lang="en-US" altLang="zh-TW" dirty="0">
                <a:solidFill>
                  <a:schemeClr val="bg1"/>
                </a:solidFill>
              </a:rPr>
              <a:t>Batch Size</a:t>
            </a:r>
            <a:r>
              <a:rPr lang="zh-TW" altLang="en-US" dirty="0">
                <a:solidFill>
                  <a:schemeClr val="bg1"/>
                </a:solidFill>
              </a:rPr>
              <a:t>），這直接影響了商用服務的成本效益。</a:t>
            </a:r>
          </a:p>
        </p:txBody>
      </p:sp>
    </p:spTree>
    <p:extLst>
      <p:ext uri="{BB962C8B-B14F-4D97-AF65-F5344CB8AC3E}">
        <p14:creationId xmlns:p14="http://schemas.microsoft.com/office/powerpoint/2010/main" val="23358448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</a:t>
            </a:r>
            <a:r>
              <a:rPr lang="zh-TW" altLang="en-US" dirty="0"/>
              <a:t> </a:t>
            </a:r>
            <a:r>
              <a:rPr lang="en-US" altLang="zh-TW" dirty="0"/>
              <a:t>cache</a:t>
            </a:r>
            <a:r>
              <a:rPr lang="zh-TW" altLang="en-US" dirty="0"/>
              <a:t>的挑戰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47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13453"/>
            <a:ext cx="10582901" cy="5041234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KV cache compression (</a:t>
            </a:r>
            <a:r>
              <a:rPr lang="zh-TW" altLang="en-US" dirty="0">
                <a:solidFill>
                  <a:schemeClr val="bg1"/>
                </a:solidFill>
              </a:rPr>
              <a:t>壓縮</a:t>
            </a:r>
            <a:r>
              <a:rPr lang="en-US" altLang="zh-TW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TurboQuant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sz="2000" dirty="0">
                <a:solidFill>
                  <a:schemeClr val="bg1"/>
                </a:solidFill>
              </a:rPr>
              <a:t>Google</a:t>
            </a:r>
            <a:r>
              <a:rPr lang="zh-TW" altLang="en-US" sz="2000" dirty="0">
                <a:solidFill>
                  <a:schemeClr val="bg1"/>
                </a:solidFill>
              </a:rPr>
              <a:t>推出的一項革命性技術，通過壓縮記憶體來提高生成式 </a:t>
            </a:r>
            <a:r>
              <a:rPr lang="en-US" altLang="zh-TW" sz="2000" dirty="0">
                <a:solidFill>
                  <a:schemeClr val="bg1"/>
                </a:solidFill>
              </a:rPr>
              <a:t>AI </a:t>
            </a:r>
            <a:r>
              <a:rPr lang="zh-TW" altLang="en-US" sz="2000" dirty="0">
                <a:solidFill>
                  <a:schemeClr val="bg1"/>
                </a:solidFill>
              </a:rPr>
              <a:t>的運行效率。該技術的核心在於能夠將記憶體使用量壓縮至原本的六分之一，同時保持模型的精度不損失。</a:t>
            </a:r>
            <a:endParaRPr lang="en-US" altLang="zh-TW" sz="2000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219" y="2587229"/>
            <a:ext cx="7776384" cy="427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23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90EA-D4AD-40BE-9EA5-7363600B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</a:t>
            </a:r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648505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1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49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13453"/>
            <a:ext cx="10903849" cy="5041234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請用 </a:t>
            </a:r>
            <a:r>
              <a:rPr lang="en-US" altLang="zh-TW" dirty="0">
                <a:solidFill>
                  <a:schemeClr val="bg1"/>
                </a:solidFill>
              </a:rPr>
              <a:t>llama.cpp</a:t>
            </a:r>
            <a:r>
              <a:rPr lang="zh-TW" altLang="en-US" dirty="0">
                <a:solidFill>
                  <a:schemeClr val="bg1"/>
                </a:solidFill>
              </a:rPr>
              <a:t> 的 </a:t>
            </a:r>
            <a:r>
              <a:rPr lang="en-US" altLang="zh-TW" dirty="0">
                <a:solidFill>
                  <a:schemeClr val="bg1"/>
                </a:solidFill>
              </a:rPr>
              <a:t>chat </a:t>
            </a:r>
            <a:r>
              <a:rPr lang="zh-TW" altLang="en-US" dirty="0">
                <a:solidFill>
                  <a:schemeClr val="bg1"/>
                </a:solidFill>
              </a:rPr>
              <a:t>打相同</a:t>
            </a:r>
            <a:r>
              <a:rPr lang="en-US" altLang="zh-TW" dirty="0">
                <a:solidFill>
                  <a:schemeClr val="bg1"/>
                </a:solidFill>
              </a:rPr>
              <a:t>request</a:t>
            </a:r>
            <a:r>
              <a:rPr lang="zh-TW" altLang="en-US" dirty="0">
                <a:solidFill>
                  <a:schemeClr val="bg1"/>
                </a:solidFill>
              </a:rPr>
              <a:t>，測試第一次和第二次</a:t>
            </a:r>
            <a:r>
              <a:rPr lang="en-US" altLang="zh-TW" dirty="0">
                <a:solidFill>
                  <a:schemeClr val="bg1"/>
                </a:solidFill>
              </a:rPr>
              <a:t>request</a:t>
            </a:r>
            <a:r>
              <a:rPr lang="zh-TW" altLang="en-US" dirty="0">
                <a:solidFill>
                  <a:schemeClr val="bg1"/>
                </a:solidFill>
              </a:rPr>
              <a:t>的</a:t>
            </a:r>
            <a:r>
              <a:rPr lang="en-US" altLang="zh-TW" dirty="0">
                <a:solidFill>
                  <a:schemeClr val="bg1"/>
                </a:solidFill>
              </a:rPr>
              <a:t>TTFT</a:t>
            </a:r>
            <a:r>
              <a:rPr lang="zh-TW" altLang="en-US" dirty="0">
                <a:solidFill>
                  <a:schemeClr val="bg1"/>
                </a:solidFill>
              </a:rPr>
              <a:t>有沒有</a:t>
            </a:r>
            <a:r>
              <a:rPr lang="en-US" altLang="zh-TW" dirty="0">
                <a:solidFill>
                  <a:schemeClr val="bg1"/>
                </a:solidFill>
              </a:rPr>
              <a:t>improve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目標：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學習使用及編譯 </a:t>
            </a:r>
            <a:r>
              <a:rPr lang="en-US" altLang="zh-TW" dirty="0">
                <a:solidFill>
                  <a:schemeClr val="bg1"/>
                </a:solidFill>
              </a:rPr>
              <a:t>llama.cpp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學習如何判斷 </a:t>
            </a:r>
            <a:r>
              <a:rPr lang="en-US" altLang="zh-TW" dirty="0">
                <a:solidFill>
                  <a:schemeClr val="bg1"/>
                </a:solidFill>
              </a:rPr>
              <a:t>KV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cache reuse TTFT</a:t>
            </a:r>
            <a:endParaRPr lang="en-US" altLang="zh-TW" sz="2000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題目描述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把</a:t>
            </a:r>
            <a:r>
              <a:rPr lang="en-US" altLang="zh-TW" dirty="0">
                <a:solidFill>
                  <a:schemeClr val="bg1"/>
                </a:solidFill>
              </a:rPr>
              <a:t>llama.cpp</a:t>
            </a:r>
            <a:r>
              <a:rPr lang="zh-TW" altLang="en-US" dirty="0">
                <a:solidFill>
                  <a:schemeClr val="bg1"/>
                </a:solidFill>
              </a:rPr>
              <a:t>從 </a:t>
            </a:r>
            <a:r>
              <a:rPr lang="en-US" altLang="zh-TW" dirty="0" err="1">
                <a:solidFill>
                  <a:schemeClr val="bg1"/>
                </a:solidFill>
              </a:rPr>
              <a:t>github</a:t>
            </a:r>
            <a:r>
              <a:rPr lang="en-US" altLang="zh-TW" dirty="0">
                <a:solidFill>
                  <a:schemeClr val="bg1"/>
                </a:solidFill>
              </a:rPr>
              <a:t> clone</a:t>
            </a:r>
            <a:r>
              <a:rPr lang="zh-TW" altLang="en-US" dirty="0">
                <a:solidFill>
                  <a:schemeClr val="bg1"/>
                </a:solidFill>
              </a:rPr>
              <a:t>下來，並且編譯成</a:t>
            </a:r>
            <a:r>
              <a:rPr lang="en-US" altLang="zh-TW" dirty="0">
                <a:solidFill>
                  <a:schemeClr val="bg1"/>
                </a:solidFill>
              </a:rPr>
              <a:t>server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起</a:t>
            </a:r>
            <a:r>
              <a:rPr lang="en-US" altLang="zh-TW" dirty="0">
                <a:solidFill>
                  <a:schemeClr val="bg1"/>
                </a:solidFill>
              </a:rPr>
              <a:t>llama-server</a:t>
            </a:r>
            <a:r>
              <a:rPr lang="zh-TW" altLang="en-US" dirty="0">
                <a:solidFill>
                  <a:schemeClr val="bg1"/>
                </a:solidFill>
              </a:rPr>
              <a:t>以後，直接用</a:t>
            </a:r>
            <a:r>
              <a:rPr lang="en-US" altLang="zh-TW" dirty="0">
                <a:solidFill>
                  <a:schemeClr val="bg1"/>
                </a:solidFill>
              </a:rPr>
              <a:t>server</a:t>
            </a:r>
            <a:r>
              <a:rPr lang="zh-TW" altLang="en-US" dirty="0">
                <a:solidFill>
                  <a:schemeClr val="bg1"/>
                </a:solidFill>
              </a:rPr>
              <a:t>開啟</a:t>
            </a:r>
            <a:r>
              <a:rPr lang="en-US" altLang="zh-TW" dirty="0">
                <a:solidFill>
                  <a:schemeClr val="bg1"/>
                </a:solidFill>
              </a:rPr>
              <a:t>chat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輸入</a:t>
            </a:r>
            <a:r>
              <a:rPr lang="en-US" altLang="zh-TW" dirty="0">
                <a:solidFill>
                  <a:schemeClr val="bg1"/>
                </a:solidFill>
              </a:rPr>
              <a:t>request</a:t>
            </a:r>
            <a:r>
              <a:rPr lang="zh-TW" altLang="en-US" dirty="0">
                <a:solidFill>
                  <a:schemeClr val="bg1"/>
                </a:solidFill>
              </a:rPr>
              <a:t>，並得到結算畫面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再輸入一次觀察</a:t>
            </a:r>
            <a:r>
              <a:rPr lang="en-US" altLang="zh-TW" dirty="0">
                <a:solidFill>
                  <a:schemeClr val="bg1"/>
                </a:solidFill>
              </a:rPr>
              <a:t>TTFT</a:t>
            </a:r>
            <a:r>
              <a:rPr lang="zh-TW" altLang="en-US" dirty="0">
                <a:solidFill>
                  <a:schemeClr val="bg1"/>
                </a:solidFill>
              </a:rPr>
              <a:t>變化</a:t>
            </a:r>
            <a:endParaRPr lang="en-US" altLang="zh-TW" dirty="0">
              <a:solidFill>
                <a:schemeClr val="bg1"/>
              </a:solidFill>
            </a:endParaRPr>
          </a:p>
          <a:p>
            <a:pPr lvl="2"/>
            <a:r>
              <a:rPr lang="en-US" altLang="zh-TW" dirty="0">
                <a:solidFill>
                  <a:schemeClr val="bg1"/>
                </a:solidFill>
              </a:rPr>
              <a:t>Ps. </a:t>
            </a:r>
            <a:r>
              <a:rPr lang="zh-TW" altLang="en-US" dirty="0">
                <a:solidFill>
                  <a:schemeClr val="bg1"/>
                </a:solidFill>
              </a:rPr>
              <a:t>可以看一下下一頁的步驟</a:t>
            </a:r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9635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0"/>
            <a:ext cx="12192000" cy="8490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Llama.cpp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703792" y="361950"/>
            <a:ext cx="1117579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Clone the source code from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github</a:t>
            </a:r>
            <a:endParaRPr lang="en-US" altLang="zh-TW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git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clone 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  <a:hlinkClick r:id="rId2"/>
              </a:rPr>
              <a:t>https://github.com/ggml-org/llama.cpp.git</a:t>
            </a:r>
            <a:endParaRPr lang="en-US" altLang="zh-TW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Go into the llama.cpp folder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cd llama.cpp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Compile the source code through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cmake</a:t>
            </a:r>
            <a:endParaRPr lang="en-US" altLang="zh-TW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cmake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-B build -S . -DLLAMA_CURL=OFF -DLLAMA_BUILD_SERVER=ON -DCMAKE_BUILD_TYPE=Release  -DGGML_NATIVE=OFF -G "Ninja" -DGGML_CUDA=ON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cmake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--build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build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--target llama-server --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config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Release –j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Download the model from 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huggingface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, directly click the file to download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hlinkClick r:id="rId3"/>
              </a:rPr>
              <a:t>Qwen</a:t>
            </a:r>
            <a:r>
              <a:rPr lang="en-US" altLang="zh-TW" sz="2000" dirty="0">
                <a:hlinkClick r:id="rId3"/>
              </a:rPr>
              <a:t>/Qwen2.5-3B-Instruct-GGUF at main</a:t>
            </a:r>
            <a:r>
              <a:rPr lang="en-US" altLang="zh-TW" sz="2000" dirty="0"/>
              <a:t>   </a:t>
            </a:r>
            <a:r>
              <a:rPr lang="en-US" altLang="zh-TW" sz="2000" dirty="0">
                <a:solidFill>
                  <a:srgbClr val="FF0000"/>
                </a:solidFill>
              </a:rPr>
              <a:t>Q4_K_M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Run the llama-server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Build/bin/llama-server –m &lt;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model.gguf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&gt; -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ngl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100 -c &lt;</a:t>
            </a:r>
            <a:r>
              <a:rPr lang="en-US" altLang="zh-TW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token_length</a:t>
            </a:r>
            <a:r>
              <a:rPr lang="en-US" altLang="zh-TW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&gt; --host 127.0.0.1 –port 8000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TW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zh-TW" altLang="en-US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8719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0"/>
            <a:ext cx="12192000" cy="8490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OpenWebUI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510069" y="671691"/>
            <a:ext cx="11570078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Download the 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docker</a:t>
            </a:r>
            <a:endParaRPr lang="en-US" altLang="zh-TW" sz="2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Following the official document to install 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docker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  <a:hlinkClick r:id="rId2"/>
              </a:rPr>
              <a:t>https://docs.docker.com/engine/install/ubuntu/#install-using-the-repository</a:t>
            </a:r>
            <a:endParaRPr lang="en-US" altLang="zh-TW" sz="2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Run the open-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webui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(waste</a:t>
            </a:r>
            <a:r>
              <a:rPr lang="zh-TW" altLang="en-US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是我們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Local</a:t>
            </a:r>
            <a:r>
              <a:rPr lang="zh-TW" altLang="en-US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的資料價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sudo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docker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run -d --net=host -v ./</a:t>
            </a:r>
            <a:r>
              <a:rPr lang="en-US" altLang="zh-TW" sz="2200" dirty="0">
                <a:solidFill>
                  <a:srgbClr val="FF0000"/>
                </a:solidFill>
              </a:rPr>
              <a:t>waste/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open-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webui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:/app/backend/data --name open-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webui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ghcr.io/open-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webui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/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open-webui:main</a:t>
            </a:r>
            <a:endParaRPr lang="en-US" altLang="zh-TW" sz="2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Login 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webui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service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# visit 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WebUI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on http:&lt;IP&gt;:8080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# login with Admin user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# account: &lt;any email&gt;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# password: &lt;</a:t>
            </a:r>
            <a:r>
              <a:rPr lang="en-US" altLang="zh-TW" sz="2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your_password</a:t>
            </a:r>
            <a:r>
              <a:rPr lang="en-US" altLang="zh-TW" sz="2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&gt;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zh-TW" altLang="en-US" sz="2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702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52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13453"/>
            <a:ext cx="10903849" cy="5041234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請用 </a:t>
            </a:r>
            <a:r>
              <a:rPr lang="en-US" altLang="zh-TW" dirty="0">
                <a:solidFill>
                  <a:schemeClr val="bg1"/>
                </a:solidFill>
              </a:rPr>
              <a:t>llama </a:t>
            </a:r>
            <a:r>
              <a:rPr lang="en-US" altLang="zh-TW" dirty="0" err="1">
                <a:solidFill>
                  <a:schemeClr val="bg1"/>
                </a:solidFill>
              </a:rPr>
              <a:t>cpp</a:t>
            </a:r>
            <a:r>
              <a:rPr lang="zh-TW" altLang="en-US" dirty="0">
                <a:solidFill>
                  <a:schemeClr val="bg1"/>
                </a:solidFill>
              </a:rPr>
              <a:t> 的 </a:t>
            </a:r>
            <a:r>
              <a:rPr lang="en-US" altLang="zh-TW" dirty="0" err="1">
                <a:solidFill>
                  <a:schemeClr val="bg1"/>
                </a:solidFill>
              </a:rPr>
              <a:t>webui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，自行架設</a:t>
            </a:r>
            <a:r>
              <a:rPr lang="en-US" altLang="zh-TW" dirty="0">
                <a:solidFill>
                  <a:schemeClr val="bg1"/>
                </a:solidFill>
              </a:rPr>
              <a:t>agent</a:t>
            </a:r>
            <a:r>
              <a:rPr lang="zh-TW" altLang="en-US" dirty="0">
                <a:solidFill>
                  <a:schemeClr val="bg1"/>
                </a:solidFill>
              </a:rPr>
              <a:t>，並進行公司法規詢問，測試</a:t>
            </a:r>
            <a:r>
              <a:rPr lang="en-US" altLang="zh-TW" dirty="0">
                <a:solidFill>
                  <a:schemeClr val="bg1"/>
                </a:solidFill>
              </a:rPr>
              <a:t>TTFT</a:t>
            </a:r>
            <a:r>
              <a:rPr lang="zh-TW" altLang="en-US" dirty="0">
                <a:solidFill>
                  <a:schemeClr val="bg1"/>
                </a:solidFill>
              </a:rPr>
              <a:t>有沒有達到</a:t>
            </a:r>
            <a:r>
              <a:rPr lang="en-US" altLang="zh-TW" dirty="0">
                <a:solidFill>
                  <a:schemeClr val="bg1"/>
                </a:solidFill>
              </a:rPr>
              <a:t>reuse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目標：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學習使用</a:t>
            </a:r>
            <a:r>
              <a:rPr lang="en-US" altLang="zh-TW" dirty="0">
                <a:solidFill>
                  <a:schemeClr val="bg1"/>
                </a:solidFill>
              </a:rPr>
              <a:t>llama </a:t>
            </a:r>
            <a:r>
              <a:rPr lang="en-US" altLang="zh-TW" dirty="0" err="1">
                <a:solidFill>
                  <a:schemeClr val="bg1"/>
                </a:solidFill>
              </a:rPr>
              <a:t>cpp</a:t>
            </a:r>
            <a:r>
              <a:rPr lang="en-US" altLang="zh-TW" dirty="0">
                <a:solidFill>
                  <a:schemeClr val="bg1"/>
                </a:solidFill>
              </a:rPr>
              <a:t> agent</a:t>
            </a:r>
            <a:r>
              <a:rPr lang="zh-TW" altLang="en-US" dirty="0">
                <a:solidFill>
                  <a:schemeClr val="bg1"/>
                </a:solidFill>
              </a:rPr>
              <a:t>，問公司規章問題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題目描述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起</a:t>
            </a:r>
            <a:r>
              <a:rPr lang="en-US" altLang="zh-TW" dirty="0">
                <a:solidFill>
                  <a:schemeClr val="bg1"/>
                </a:solidFill>
              </a:rPr>
              <a:t>llama-server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起 </a:t>
            </a:r>
            <a:r>
              <a:rPr lang="en-US" altLang="zh-TW" dirty="0" err="1">
                <a:solidFill>
                  <a:schemeClr val="bg1"/>
                </a:solidFill>
              </a:rPr>
              <a:t>webui</a:t>
            </a:r>
            <a:r>
              <a:rPr lang="zh-TW" altLang="en-US" dirty="0">
                <a:solidFill>
                  <a:schemeClr val="bg1"/>
                </a:solidFill>
              </a:rPr>
              <a:t>，串</a:t>
            </a:r>
            <a:r>
              <a:rPr lang="en-US" altLang="zh-TW" dirty="0">
                <a:solidFill>
                  <a:schemeClr val="bg1"/>
                </a:solidFill>
              </a:rPr>
              <a:t>agent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輸入</a:t>
            </a:r>
            <a:r>
              <a:rPr lang="en-US" altLang="zh-TW" dirty="0">
                <a:solidFill>
                  <a:schemeClr val="bg1"/>
                </a:solidFill>
              </a:rPr>
              <a:t>request</a:t>
            </a:r>
            <a:r>
              <a:rPr lang="zh-TW" altLang="en-US" dirty="0">
                <a:solidFill>
                  <a:schemeClr val="bg1"/>
                </a:solidFill>
              </a:rPr>
              <a:t>，並得到結算畫面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再輸入一次觀察</a:t>
            </a:r>
            <a:r>
              <a:rPr lang="en-US" altLang="zh-TW" dirty="0">
                <a:solidFill>
                  <a:schemeClr val="bg1"/>
                </a:solidFill>
              </a:rPr>
              <a:t>TTFT</a:t>
            </a:r>
            <a:r>
              <a:rPr lang="zh-TW" altLang="en-US" dirty="0">
                <a:solidFill>
                  <a:schemeClr val="bg1"/>
                </a:solidFill>
              </a:rPr>
              <a:t>變化</a:t>
            </a:r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2591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53</a:t>
            </a:fld>
            <a:endParaRPr lang="en-US" altLang="zh-TW" dirty="0"/>
          </a:p>
        </p:txBody>
      </p:sp>
      <p:sp>
        <p:nvSpPr>
          <p:cNvPr id="7" name="矩形 6"/>
          <p:cNvSpPr/>
          <p:nvPr/>
        </p:nvSpPr>
        <p:spPr>
          <a:xfrm>
            <a:off x="167780" y="1226539"/>
            <a:ext cx="122311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./llama-server -m /home/user/model/</a:t>
            </a:r>
            <a:r>
              <a:rPr lang="en-US" altLang="zh-TW" dirty="0" err="1">
                <a:solidFill>
                  <a:schemeClr val="bg1"/>
                </a:solidFill>
              </a:rPr>
              <a:t>gguf</a:t>
            </a:r>
            <a:r>
              <a:rPr lang="en-US" altLang="zh-TW" dirty="0">
                <a:solidFill>
                  <a:schemeClr val="bg1"/>
                </a:solidFill>
              </a:rPr>
              <a:t>/qwen2.5-3b-instruct-q4_k_m.gguf -e -s 0 --host 0.0.0.0 --port 8299 -c 32768 -n 500 -mg 0 -</a:t>
            </a:r>
            <a:r>
              <a:rPr lang="en-US" altLang="zh-TW" dirty="0" err="1">
                <a:solidFill>
                  <a:schemeClr val="bg1"/>
                </a:solidFill>
              </a:rPr>
              <a:t>ngl</a:t>
            </a:r>
            <a:r>
              <a:rPr lang="en-US" altLang="zh-TW" dirty="0">
                <a:solidFill>
                  <a:schemeClr val="bg1"/>
                </a:solidFill>
              </a:rPr>
              <a:t> 100 --log-file test.log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051" y="1865857"/>
            <a:ext cx="6828571" cy="4609524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8825218" y="2692866"/>
            <a:ext cx="187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起</a:t>
            </a:r>
            <a:r>
              <a:rPr lang="en-US" altLang="zh-TW" dirty="0">
                <a:solidFill>
                  <a:schemeClr val="bg1"/>
                </a:solidFill>
              </a:rPr>
              <a:t>llama-server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0141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54</a:t>
            </a:fld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33" y="1300996"/>
            <a:ext cx="10353916" cy="494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049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55</a:t>
            </a:fld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84" y="1181308"/>
            <a:ext cx="11063626" cy="529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33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56</a:t>
            </a:fld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92" y="947956"/>
            <a:ext cx="10307607" cy="555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291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  -- </a:t>
            </a:r>
            <a:r>
              <a:rPr lang="zh-TW" altLang="en-US" dirty="0"/>
              <a:t>新增</a:t>
            </a:r>
            <a:r>
              <a:rPr lang="en-US" altLang="zh-TW" dirty="0"/>
              <a:t>agent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57</a:t>
            </a:fld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" y="1075507"/>
            <a:ext cx="11258861" cy="535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982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  -- </a:t>
            </a:r>
            <a:r>
              <a:rPr lang="zh-TW" altLang="en-US" dirty="0"/>
              <a:t>新增</a:t>
            </a:r>
            <a:r>
              <a:rPr lang="en-US" altLang="zh-TW" dirty="0"/>
              <a:t>agent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58</a:t>
            </a:fld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84" y="1196568"/>
            <a:ext cx="10691916" cy="508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257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  -- </a:t>
            </a:r>
            <a:r>
              <a:rPr lang="zh-TW" altLang="en-US" dirty="0"/>
              <a:t>新增</a:t>
            </a:r>
            <a:r>
              <a:rPr lang="en-US" altLang="zh-TW" dirty="0"/>
              <a:t>agent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59</a:t>
            </a:fld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61" y="1008492"/>
            <a:ext cx="11508699" cy="548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505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  </a:t>
            </a:r>
            <a:r>
              <a:rPr lang="zh-TW" altLang="en-US" dirty="0"/>
              <a:t>可問問題了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60</a:t>
            </a:fld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78" y="954771"/>
            <a:ext cx="10646022" cy="552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822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2  </a:t>
            </a:r>
            <a:r>
              <a:rPr lang="zh-TW" altLang="en-US" dirty="0"/>
              <a:t>可問問題了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61</a:t>
            </a:fld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58" y="1931349"/>
            <a:ext cx="11225506" cy="426108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082" y="278320"/>
            <a:ext cx="6137082" cy="13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208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3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62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13453"/>
            <a:ext cx="10903849" cy="5041234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請用</a:t>
            </a:r>
            <a:r>
              <a:rPr lang="en-US" altLang="zh-TW" dirty="0">
                <a:solidFill>
                  <a:schemeClr val="bg1"/>
                </a:solidFill>
              </a:rPr>
              <a:t>python</a:t>
            </a:r>
            <a:r>
              <a:rPr lang="zh-TW" altLang="en-US" dirty="0">
                <a:solidFill>
                  <a:schemeClr val="bg1"/>
                </a:solidFill>
              </a:rPr>
              <a:t>撰寫一個</a:t>
            </a:r>
            <a:r>
              <a:rPr lang="en-US" altLang="zh-TW" dirty="0">
                <a:solidFill>
                  <a:schemeClr val="bg1"/>
                </a:solidFill>
              </a:rPr>
              <a:t>KV cache calculator</a:t>
            </a:r>
            <a:r>
              <a:rPr lang="zh-TW" altLang="en-US" dirty="0">
                <a:solidFill>
                  <a:schemeClr val="bg1"/>
                </a:solidFill>
              </a:rPr>
              <a:t>，會根據輸入的模型</a:t>
            </a:r>
            <a:r>
              <a:rPr lang="en-US" altLang="zh-TW" dirty="0" err="1">
                <a:solidFill>
                  <a:schemeClr val="bg1"/>
                </a:solidFill>
              </a:rPr>
              <a:t>config</a:t>
            </a:r>
            <a:r>
              <a:rPr lang="zh-TW" altLang="en-US" dirty="0">
                <a:solidFill>
                  <a:schemeClr val="bg1"/>
                </a:solidFill>
              </a:rPr>
              <a:t>，判斷是不是</a:t>
            </a:r>
            <a:r>
              <a:rPr lang="en-US" altLang="zh-TW" dirty="0">
                <a:solidFill>
                  <a:schemeClr val="bg1"/>
                </a:solidFill>
              </a:rPr>
              <a:t>SWA model</a:t>
            </a:r>
            <a:r>
              <a:rPr lang="zh-TW" altLang="en-US" dirty="0">
                <a:solidFill>
                  <a:schemeClr val="bg1"/>
                </a:solidFill>
              </a:rPr>
              <a:t>，並且算出 </a:t>
            </a:r>
            <a:r>
              <a:rPr lang="en-US" altLang="zh-TW" dirty="0">
                <a:solidFill>
                  <a:schemeClr val="bg1"/>
                </a:solidFill>
              </a:rPr>
              <a:t>token length K</a:t>
            </a:r>
            <a:r>
              <a:rPr lang="zh-TW" altLang="en-US" dirty="0">
                <a:solidFill>
                  <a:schemeClr val="bg1"/>
                </a:solidFill>
              </a:rPr>
              <a:t>，的</a:t>
            </a:r>
            <a:r>
              <a:rPr lang="en-US" altLang="zh-TW" dirty="0">
                <a:solidFill>
                  <a:schemeClr val="bg1"/>
                </a:solidFill>
              </a:rPr>
              <a:t>KV cache</a:t>
            </a:r>
            <a:r>
              <a:rPr lang="zh-TW" altLang="en-US" dirty="0">
                <a:solidFill>
                  <a:schemeClr val="bg1"/>
                </a:solidFill>
              </a:rPr>
              <a:t>大小為多大。</a:t>
            </a:r>
            <a:endParaRPr lang="en-US" altLang="zh-TW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9313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4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63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13453"/>
            <a:ext cx="10903849" cy="5041234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題目描述：請用</a:t>
            </a:r>
            <a:r>
              <a:rPr lang="en-US" altLang="zh-TW" dirty="0">
                <a:solidFill>
                  <a:schemeClr val="bg1"/>
                </a:solidFill>
              </a:rPr>
              <a:t>python</a:t>
            </a:r>
            <a:r>
              <a:rPr lang="zh-TW" altLang="en-US" dirty="0">
                <a:solidFill>
                  <a:schemeClr val="bg1"/>
                </a:solidFill>
              </a:rPr>
              <a:t>實作一個 </a:t>
            </a:r>
            <a:r>
              <a:rPr lang="en-US" altLang="zh-TW" dirty="0" err="1">
                <a:solidFill>
                  <a:schemeClr val="bg1"/>
                </a:solidFill>
              </a:rPr>
              <a:t>Trie</a:t>
            </a:r>
            <a:r>
              <a:rPr lang="en-US" altLang="zh-TW" dirty="0">
                <a:solidFill>
                  <a:schemeClr val="bg1"/>
                </a:solidFill>
              </a:rPr>
              <a:t> (</a:t>
            </a:r>
            <a:r>
              <a:rPr lang="zh-TW" altLang="en-US" dirty="0">
                <a:solidFill>
                  <a:schemeClr val="bg1"/>
                </a:solidFill>
              </a:rPr>
              <a:t>字典樹</a:t>
            </a:r>
            <a:r>
              <a:rPr lang="en-US" altLang="zh-TW" dirty="0">
                <a:solidFill>
                  <a:schemeClr val="bg1"/>
                </a:solidFill>
              </a:rPr>
              <a:t>)</a:t>
            </a:r>
            <a:r>
              <a:rPr lang="zh-TW" altLang="en-US" dirty="0">
                <a:solidFill>
                  <a:schemeClr val="bg1"/>
                </a:solidFill>
              </a:rPr>
              <a:t>，並完成以下功能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insert(word)</a:t>
            </a:r>
            <a:r>
              <a:rPr lang="zh-TW" altLang="en-US" dirty="0">
                <a:solidFill>
                  <a:schemeClr val="bg1"/>
                </a:solidFill>
              </a:rPr>
              <a:t>：在 </a:t>
            </a:r>
            <a:r>
              <a:rPr lang="en-US" altLang="zh-TW" dirty="0" err="1">
                <a:solidFill>
                  <a:schemeClr val="bg1"/>
                </a:solidFill>
              </a:rPr>
              <a:t>Trie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中插入一個字串 </a:t>
            </a:r>
            <a:r>
              <a:rPr lang="en-US" altLang="zh-TW" dirty="0">
                <a:solidFill>
                  <a:schemeClr val="bg1"/>
                </a:solidFill>
              </a:rPr>
              <a:t>word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search(word)</a:t>
            </a:r>
            <a:r>
              <a:rPr lang="zh-TW" altLang="en-US" dirty="0">
                <a:solidFill>
                  <a:schemeClr val="bg1"/>
                </a:solidFill>
              </a:rPr>
              <a:t>：判斷字串 </a:t>
            </a:r>
            <a:r>
              <a:rPr lang="en-US" altLang="zh-TW" dirty="0">
                <a:solidFill>
                  <a:schemeClr val="bg1"/>
                </a:solidFill>
              </a:rPr>
              <a:t>word </a:t>
            </a:r>
            <a:r>
              <a:rPr lang="zh-TW" altLang="en-US" dirty="0">
                <a:solidFill>
                  <a:schemeClr val="bg1"/>
                </a:solidFill>
              </a:rPr>
              <a:t>是否存在於 </a:t>
            </a:r>
            <a:r>
              <a:rPr lang="en-US" altLang="zh-TW" dirty="0" err="1">
                <a:solidFill>
                  <a:schemeClr val="bg1"/>
                </a:solidFill>
              </a:rPr>
              <a:t>Trie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中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starts_with</a:t>
            </a:r>
            <a:r>
              <a:rPr lang="en-US" altLang="zh-TW" dirty="0">
                <a:solidFill>
                  <a:schemeClr val="bg1"/>
                </a:solidFill>
              </a:rPr>
              <a:t>(prefix)</a:t>
            </a:r>
            <a:r>
              <a:rPr lang="zh-TW" altLang="en-US" dirty="0">
                <a:solidFill>
                  <a:schemeClr val="bg1"/>
                </a:solidFill>
              </a:rPr>
              <a:t>：判斷是否有任何字串以 </a:t>
            </a:r>
            <a:r>
              <a:rPr lang="en-US" altLang="zh-TW" dirty="0">
                <a:solidFill>
                  <a:schemeClr val="bg1"/>
                </a:solidFill>
              </a:rPr>
              <a:t>prefix </a:t>
            </a:r>
            <a:r>
              <a:rPr lang="zh-TW" altLang="en-US" dirty="0">
                <a:solidFill>
                  <a:schemeClr val="bg1"/>
                </a:solidFill>
              </a:rPr>
              <a:t>為開頭。針對所設計的實作撰寫幾個單元測試，驗證 </a:t>
            </a:r>
            <a:r>
              <a:rPr lang="en-US" altLang="zh-TW" dirty="0" err="1">
                <a:solidFill>
                  <a:schemeClr val="bg1"/>
                </a:solidFill>
              </a:rPr>
              <a:t>Trie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是否正確地運作。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程式要求：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定義一個 </a:t>
            </a:r>
            <a:r>
              <a:rPr lang="en-US" altLang="zh-TW" dirty="0" err="1">
                <a:solidFill>
                  <a:schemeClr val="bg1"/>
                </a:solidFill>
              </a:rPr>
              <a:t>TrieNode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類別，表示 </a:t>
            </a:r>
            <a:r>
              <a:rPr lang="en-US" altLang="zh-TW" dirty="0" err="1">
                <a:solidFill>
                  <a:schemeClr val="bg1"/>
                </a:solidFill>
              </a:rPr>
              <a:t>Trie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的節點，其中至少要包含以下屬性：</a:t>
            </a:r>
            <a:endParaRPr lang="en-US" altLang="zh-TW" dirty="0">
              <a:solidFill>
                <a:schemeClr val="bg1"/>
              </a:solidFill>
            </a:endParaRPr>
          </a:p>
          <a:p>
            <a:pPr lvl="2"/>
            <a:r>
              <a:rPr lang="en-US" altLang="zh-TW" dirty="0">
                <a:solidFill>
                  <a:schemeClr val="bg1"/>
                </a:solidFill>
              </a:rPr>
              <a:t>children: </a:t>
            </a:r>
            <a:r>
              <a:rPr lang="zh-TW" altLang="en-US" dirty="0">
                <a:solidFill>
                  <a:schemeClr val="bg1"/>
                </a:solidFill>
              </a:rPr>
              <a:t>用於存儲子節點的字典結構，其中鍵值為字元，值為對應的子節點。</a:t>
            </a:r>
            <a:endParaRPr lang="en-US" altLang="zh-TW" dirty="0">
              <a:solidFill>
                <a:schemeClr val="bg1"/>
              </a:solidFill>
            </a:endParaRPr>
          </a:p>
          <a:p>
            <a:pPr lvl="2"/>
            <a:r>
              <a:rPr lang="en-US" altLang="zh-TW" dirty="0" err="1">
                <a:solidFill>
                  <a:schemeClr val="bg1"/>
                </a:solidFill>
              </a:rPr>
              <a:t>is_end_of_word</a:t>
            </a:r>
            <a:r>
              <a:rPr lang="en-US" altLang="zh-TW" dirty="0">
                <a:solidFill>
                  <a:schemeClr val="bg1"/>
                </a:solidFill>
              </a:rPr>
              <a:t>: </a:t>
            </a:r>
            <a:r>
              <a:rPr lang="zh-TW" altLang="en-US" dirty="0">
                <a:solidFill>
                  <a:schemeClr val="bg1"/>
                </a:solidFill>
              </a:rPr>
              <a:t>請用布林值標記此節點是否為某個字的結尾。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定義 </a:t>
            </a:r>
            <a:r>
              <a:rPr lang="en-US" altLang="zh-TW" dirty="0" err="1">
                <a:solidFill>
                  <a:schemeClr val="bg1"/>
                </a:solidFill>
              </a:rPr>
              <a:t>Trie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類別，包含上述三個功能 </a:t>
            </a:r>
            <a:r>
              <a:rPr lang="en-US" altLang="zh-TW" dirty="0">
                <a:solidFill>
                  <a:schemeClr val="bg1"/>
                </a:solidFill>
              </a:rPr>
              <a:t>(insert, search, </a:t>
            </a:r>
            <a:r>
              <a:rPr lang="en-US" altLang="zh-TW" dirty="0" err="1">
                <a:solidFill>
                  <a:schemeClr val="bg1"/>
                </a:solidFill>
              </a:rPr>
              <a:t>starts_with</a:t>
            </a:r>
            <a:r>
              <a:rPr lang="en-US" altLang="zh-TW" dirty="0">
                <a:solidFill>
                  <a:schemeClr val="bg1"/>
                </a:solidFill>
              </a:rPr>
              <a:t>)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程式必須支援任何英文字母的字串操作 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zh-TW" altLang="en-US" dirty="0">
                <a:solidFill>
                  <a:schemeClr val="bg1"/>
                </a:solidFill>
              </a:rPr>
              <a:t>大小寫處理可自行決定</a:t>
            </a:r>
            <a:r>
              <a:rPr lang="en-US" altLang="zh-TW" dirty="0">
                <a:solidFill>
                  <a:schemeClr val="bg1"/>
                </a:solidFill>
              </a:rPr>
              <a:t>)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  <a:endParaRPr lang="en-US" altLang="zh-TW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7563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4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64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13453"/>
            <a:ext cx="10903849" cy="5041234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設計好 </a:t>
            </a:r>
            <a:r>
              <a:rPr lang="en-US" altLang="zh-TW" dirty="0" err="1">
                <a:solidFill>
                  <a:schemeClr val="bg1"/>
                </a:solidFill>
              </a:rPr>
              <a:t>Trie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後，提供以下測試檢驗正確性：</a:t>
            </a:r>
            <a:endParaRPr lang="en-US" altLang="zh-TW" sz="1600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278" y="1677508"/>
            <a:ext cx="6609524" cy="3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893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 5</a:t>
            </a:r>
            <a:endParaRPr lang="zh-TW" alt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65</a:t>
            </a:fld>
            <a:endParaRPr lang="en-US" altLang="zh-TW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10262F7-EF3A-4DE3-BFAC-45C94BDACD44}"/>
              </a:ext>
            </a:extLst>
          </p:cNvPr>
          <p:cNvSpPr txBox="1">
            <a:spLocks/>
          </p:cNvSpPr>
          <p:nvPr/>
        </p:nvSpPr>
        <p:spPr>
          <a:xfrm>
            <a:off x="704792" y="1113453"/>
            <a:ext cx="10903849" cy="5041234"/>
          </a:xfrm>
          <a:prstGeom prst="rect">
            <a:avLst/>
          </a:prstGeom>
        </p:spPr>
        <p:txBody>
          <a:bodyPr>
            <a:noAutofit/>
          </a:bodyPr>
          <a:lstStyle>
            <a:lvl1pPr marL="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Verdana" panose="020B060403050404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p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實作向量檢索與 </a:t>
            </a:r>
            <a:r>
              <a:rPr lang="en-US" altLang="zh-TW" dirty="0">
                <a:solidFill>
                  <a:schemeClr val="bg1"/>
                </a:solidFill>
              </a:rPr>
              <a:t>Prompt </a:t>
            </a:r>
            <a:r>
              <a:rPr lang="zh-TW" altLang="en-US" dirty="0">
                <a:solidFill>
                  <a:schemeClr val="bg1"/>
                </a:solidFill>
              </a:rPr>
              <a:t>拼接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目標： 測試是否理解 </a:t>
            </a:r>
            <a:r>
              <a:rPr lang="en-US" altLang="zh-TW" dirty="0">
                <a:solidFill>
                  <a:schemeClr val="bg1"/>
                </a:solidFill>
              </a:rPr>
              <a:t>RAG </a:t>
            </a:r>
            <a:r>
              <a:rPr lang="zh-TW" altLang="en-US" dirty="0">
                <a:solidFill>
                  <a:schemeClr val="bg1"/>
                </a:solidFill>
              </a:rPr>
              <a:t>的基本「檢索 </a:t>
            </a:r>
            <a:r>
              <a:rPr lang="en-US" altLang="zh-TW" dirty="0">
                <a:solidFill>
                  <a:schemeClr val="bg1"/>
                </a:solidFill>
              </a:rPr>
              <a:t>-&gt; </a:t>
            </a:r>
            <a:r>
              <a:rPr lang="zh-TW" altLang="en-US" dirty="0">
                <a:solidFill>
                  <a:schemeClr val="bg1"/>
                </a:solidFill>
              </a:rPr>
              <a:t>增強 </a:t>
            </a:r>
            <a:r>
              <a:rPr lang="en-US" altLang="zh-TW" dirty="0">
                <a:solidFill>
                  <a:schemeClr val="bg1"/>
                </a:solidFill>
              </a:rPr>
              <a:t>-&gt; </a:t>
            </a:r>
            <a:r>
              <a:rPr lang="zh-TW" altLang="en-US" dirty="0">
                <a:solidFill>
                  <a:schemeClr val="bg1"/>
                </a:solidFill>
              </a:rPr>
              <a:t>生成」流程。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題目描述：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給予一個簡單的 向量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列表與一個 </a:t>
            </a:r>
            <a:r>
              <a:rPr lang="en-US" altLang="zh-TW" dirty="0">
                <a:solidFill>
                  <a:schemeClr val="bg1"/>
                </a:solidFill>
              </a:rPr>
              <a:t>query </a:t>
            </a:r>
            <a:r>
              <a:rPr lang="zh-TW" altLang="en-US" dirty="0">
                <a:solidFill>
                  <a:schemeClr val="bg1"/>
                </a:solidFill>
              </a:rPr>
              <a:t>向量。請撰寫一個函式：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計算 </a:t>
            </a:r>
            <a:r>
              <a:rPr lang="en-US" altLang="zh-TW" dirty="0">
                <a:solidFill>
                  <a:schemeClr val="bg1"/>
                </a:solidFill>
              </a:rPr>
              <a:t>query </a:t>
            </a:r>
            <a:r>
              <a:rPr lang="zh-TW" altLang="en-US" dirty="0">
                <a:solidFill>
                  <a:schemeClr val="bg1"/>
                </a:solidFill>
              </a:rPr>
              <a:t>與所有文件向量的 餘弦相似度 </a:t>
            </a:r>
            <a:r>
              <a:rPr lang="en-US" altLang="zh-TW" dirty="0">
                <a:solidFill>
                  <a:schemeClr val="bg1"/>
                </a:solidFill>
              </a:rPr>
              <a:t>(Cosine Similarity)</a:t>
            </a:r>
            <a:r>
              <a:rPr lang="zh-TW" altLang="en-US" dirty="0">
                <a:solidFill>
                  <a:schemeClr val="bg1"/>
                </a:solidFill>
              </a:rPr>
              <a:t>。</a:t>
            </a:r>
          </a:p>
          <a:p>
            <a:pPr lvl="1"/>
            <a:r>
              <a:rPr lang="zh-TW" altLang="en-US" dirty="0">
                <a:solidFill>
                  <a:schemeClr val="bg1"/>
                </a:solidFill>
              </a:rPr>
              <a:t>取相似度最高的 </a:t>
            </a:r>
            <a:r>
              <a:rPr lang="en-US" altLang="zh-TW" dirty="0">
                <a:solidFill>
                  <a:schemeClr val="bg1"/>
                </a:solidFill>
              </a:rPr>
              <a:t>Top-K (K=4) </a:t>
            </a:r>
            <a:r>
              <a:rPr lang="zh-TW" altLang="en-US" dirty="0">
                <a:solidFill>
                  <a:schemeClr val="bg1"/>
                </a:solidFill>
              </a:rPr>
              <a:t>個文本。</a:t>
            </a:r>
          </a:p>
        </p:txBody>
      </p:sp>
    </p:spTree>
    <p:extLst>
      <p:ext uri="{BB962C8B-B14F-4D97-AF65-F5344CB8AC3E}">
        <p14:creationId xmlns:p14="http://schemas.microsoft.com/office/powerpoint/2010/main" val="14759778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1B83-F8CE-4961-B551-23B3182A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3B36ABA-5080-4D28-B47A-7AAC2AC4F7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/>
              <a:t>Configurable Foot Note</a:t>
            </a:r>
            <a:endParaRPr lang="zh-TW" altLang="en-US" dirty="0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4071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HIS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79331"/>
      </a:accent1>
      <a:accent2>
        <a:srgbClr val="132951"/>
      </a:accent2>
      <a:accent3>
        <a:srgbClr val="7C7C7B"/>
      </a:accent3>
      <a:accent4>
        <a:srgbClr val="2370B0"/>
      </a:accent4>
      <a:accent5>
        <a:srgbClr val="461B47"/>
      </a:accent5>
      <a:accent6>
        <a:srgbClr val="FFCC40"/>
      </a:accent6>
      <a:hlink>
        <a:srgbClr val="F79331"/>
      </a:hlink>
      <a:folHlink>
        <a:srgbClr val="10145C"/>
      </a:folHlink>
    </a:clrScheme>
    <a:fontScheme name="Phiso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5758</TotalTime>
  <Words>3751</Words>
  <Application>Microsoft Office PowerPoint</Application>
  <PresentationFormat>Widescreen</PresentationFormat>
  <Paragraphs>384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微軟正黑體</vt:lpstr>
      <vt:lpstr>Arial</vt:lpstr>
      <vt:lpstr>Calibri</vt:lpstr>
      <vt:lpstr>Roboto</vt:lpstr>
      <vt:lpstr>Verdana</vt:lpstr>
      <vt:lpstr>Wingdings</vt:lpstr>
      <vt:lpstr>Office Theme</vt:lpstr>
      <vt:lpstr>KV cache 應用管理與挑戰</vt:lpstr>
      <vt:lpstr>AGENDA</vt:lpstr>
      <vt:lpstr>What is KV cache?</vt:lpstr>
      <vt:lpstr>KV cache Introduction</vt:lpstr>
      <vt:lpstr>KV cache Introduction</vt:lpstr>
      <vt:lpstr>Casual Attention</vt:lpstr>
      <vt:lpstr>Casual Attention</vt:lpstr>
      <vt:lpstr>KV cache Introduction</vt:lpstr>
      <vt:lpstr>KV cache Introduction</vt:lpstr>
      <vt:lpstr>KV Cache Reuse </vt:lpstr>
      <vt:lpstr>Prefill &amp; Decode</vt:lpstr>
      <vt:lpstr>Prefill &amp; Decode</vt:lpstr>
      <vt:lpstr>KV cache 大小計算</vt:lpstr>
      <vt:lpstr>KV cache 大小計算</vt:lpstr>
      <vt:lpstr>KV cache 大小計算</vt:lpstr>
      <vt:lpstr>KV cache 大小計算</vt:lpstr>
      <vt:lpstr>KV cache 大小計算</vt:lpstr>
      <vt:lpstr>KV cache 大小計算</vt:lpstr>
      <vt:lpstr>KV cache 管理</vt:lpstr>
      <vt:lpstr>KV cache 管理</vt:lpstr>
      <vt:lpstr>KV cache 管理</vt:lpstr>
      <vt:lpstr>KV cache 管理</vt:lpstr>
      <vt:lpstr>KV cache 管理</vt:lpstr>
      <vt:lpstr>KV cache 管理</vt:lpstr>
      <vt:lpstr>KV cache 管理</vt:lpstr>
      <vt:lpstr>KV cache 應用</vt:lpstr>
      <vt:lpstr>RAG (Retrieval-Augmented Generation)</vt:lpstr>
      <vt:lpstr>RAG (Retrieval-Augmented Generation)</vt:lpstr>
      <vt:lpstr>RAG 的運作流程</vt:lpstr>
      <vt:lpstr>RAG 的運作流程</vt:lpstr>
      <vt:lpstr>RAG 的運作流程</vt:lpstr>
      <vt:lpstr>RAG 的運作流程</vt:lpstr>
      <vt:lpstr>RAG 的運作流程</vt:lpstr>
      <vt:lpstr>RAG 的運作流程</vt:lpstr>
      <vt:lpstr>RAG 的運作流程</vt:lpstr>
      <vt:lpstr>RAG 的運作流程</vt:lpstr>
      <vt:lpstr>RAG 的運作流程</vt:lpstr>
      <vt:lpstr>RAG 的運作流程</vt:lpstr>
      <vt:lpstr>RAG 的運作流程</vt:lpstr>
      <vt:lpstr>RAG vs Fine-tune</vt:lpstr>
      <vt:lpstr>RAG &amp; KV cache</vt:lpstr>
      <vt:lpstr>RAG 的應用場景</vt:lpstr>
      <vt:lpstr>KV cache的其他應用</vt:lpstr>
      <vt:lpstr>KV cache的其他應用</vt:lpstr>
      <vt:lpstr>KV cache 的挑戰</vt:lpstr>
      <vt:lpstr>KV cache的挑戰</vt:lpstr>
      <vt:lpstr>KV cache的挑戰</vt:lpstr>
      <vt:lpstr>Lab</vt:lpstr>
      <vt:lpstr>Lab 1</vt:lpstr>
      <vt:lpstr>PowerPoint Presentation</vt:lpstr>
      <vt:lpstr>PowerPoint Presentation</vt:lpstr>
      <vt:lpstr>Lab 2</vt:lpstr>
      <vt:lpstr>Lab 2</vt:lpstr>
      <vt:lpstr>Lab 2</vt:lpstr>
      <vt:lpstr>Lab 2</vt:lpstr>
      <vt:lpstr>Lab 2</vt:lpstr>
      <vt:lpstr>Lab 2  -- 新增agent</vt:lpstr>
      <vt:lpstr>Lab 2  -- 新增agent</vt:lpstr>
      <vt:lpstr>Lab 2  -- 新增agent</vt:lpstr>
      <vt:lpstr>Lab 2  可問問題了</vt:lpstr>
      <vt:lpstr>Lab 2  可問問題了</vt:lpstr>
      <vt:lpstr>Lab 3</vt:lpstr>
      <vt:lpstr>Lab 4</vt:lpstr>
      <vt:lpstr>Lab 4</vt:lpstr>
      <vt:lpstr>Lab 5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Eva Ledezma</dc:creator>
  <cp:lastModifiedBy>class-ai</cp:lastModifiedBy>
  <cp:revision>393</cp:revision>
  <dcterms:created xsi:type="dcterms:W3CDTF">2021-05-17T14:37:38Z</dcterms:created>
  <dcterms:modified xsi:type="dcterms:W3CDTF">2026-04-08T06:09:19Z</dcterms:modified>
</cp:coreProperties>
</file>